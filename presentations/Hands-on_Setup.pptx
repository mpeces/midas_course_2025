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75" r:id="rId3"/>
    <p:sldId id="288" r:id="rId4"/>
    <p:sldId id="270" r:id="rId5"/>
    <p:sldId id="258" r:id="rId6"/>
    <p:sldId id="271" r:id="rId7"/>
    <p:sldId id="277" r:id="rId8"/>
    <p:sldId id="272" r:id="rId9"/>
    <p:sldId id="273" r:id="rId10"/>
    <p:sldId id="274" r:id="rId11"/>
    <p:sldId id="265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C94"/>
    <a:srgbClr val="004800"/>
    <a:srgbClr val="008000"/>
    <a:srgbClr val="241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68" y="3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D37CDCC1-4826-E38C-5D9D-EC3CBB456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df2eef35f0_0_0:notes">
            <a:extLst>
              <a:ext uri="{FF2B5EF4-FFF2-40B4-BE49-F238E27FC236}">
                <a16:creationId xmlns:a16="http://schemas.microsoft.com/office/drawing/2014/main" id="{F15377F6-A1B6-2D64-4B21-1F3C71BC47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df2eef35f0_0_0:notes">
            <a:extLst>
              <a:ext uri="{FF2B5EF4-FFF2-40B4-BE49-F238E27FC236}">
                <a16:creationId xmlns:a16="http://schemas.microsoft.com/office/drawing/2014/main" id="{50732172-55F2-BCEE-3060-F3D9D82BDD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1979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ECF63913-77FC-872C-669B-1893034FD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df2eef35f0_0_0:notes">
            <a:extLst>
              <a:ext uri="{FF2B5EF4-FFF2-40B4-BE49-F238E27FC236}">
                <a16:creationId xmlns:a16="http://schemas.microsoft.com/office/drawing/2014/main" id="{5AF0BAF4-A32C-A79C-C20D-D321E6A14C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df2eef35f0_0_0:notes">
            <a:extLst>
              <a:ext uri="{FF2B5EF4-FFF2-40B4-BE49-F238E27FC236}">
                <a16:creationId xmlns:a16="http://schemas.microsoft.com/office/drawing/2014/main" id="{F042E714-2F8F-2F77-78C4-DE6B82F9C3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9929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f26ad5a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df26ad5a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623B92AB-E68C-2E02-713A-3AF4BC1BA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f26ad5a7e_0_0:notes">
            <a:extLst>
              <a:ext uri="{FF2B5EF4-FFF2-40B4-BE49-F238E27FC236}">
                <a16:creationId xmlns:a16="http://schemas.microsoft.com/office/drawing/2014/main" id="{ADCD8A42-96B6-A49A-895A-CB95B8654A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df26ad5a7e_0_0:notes">
            <a:extLst>
              <a:ext uri="{FF2B5EF4-FFF2-40B4-BE49-F238E27FC236}">
                <a16:creationId xmlns:a16="http://schemas.microsoft.com/office/drawing/2014/main" id="{6CEA95FE-D236-A27B-52B5-AC3E6A1F98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6226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A95FC9FB-8EB6-EBBC-39F0-F3B9EE820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df2eef35f0_0_0:notes">
            <a:extLst>
              <a:ext uri="{FF2B5EF4-FFF2-40B4-BE49-F238E27FC236}">
                <a16:creationId xmlns:a16="http://schemas.microsoft.com/office/drawing/2014/main" id="{3A8D2712-BC2E-BF86-F98A-35FF98BD2C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df2eef35f0_0_0:notes">
            <a:extLst>
              <a:ext uri="{FF2B5EF4-FFF2-40B4-BE49-F238E27FC236}">
                <a16:creationId xmlns:a16="http://schemas.microsoft.com/office/drawing/2014/main" id="{F24B5762-11CC-0211-A95C-DB503ABE3C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0221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C64D4437-709E-1F30-7A91-E1D1301E2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f26ad5a7e_0_0:notes">
            <a:extLst>
              <a:ext uri="{FF2B5EF4-FFF2-40B4-BE49-F238E27FC236}">
                <a16:creationId xmlns:a16="http://schemas.microsoft.com/office/drawing/2014/main" id="{E442871E-49D1-64CB-E84B-F58A307C54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df26ad5a7e_0_0:notes">
            <a:extLst>
              <a:ext uri="{FF2B5EF4-FFF2-40B4-BE49-F238E27FC236}">
                <a16:creationId xmlns:a16="http://schemas.microsoft.com/office/drawing/2014/main" id="{214BFABC-ECFE-86CC-C80A-B0B973ED37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21797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8A155FC6-7CDE-7F9C-AF4F-C98967DAB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f26ad5a7e_0_0:notes">
            <a:extLst>
              <a:ext uri="{FF2B5EF4-FFF2-40B4-BE49-F238E27FC236}">
                <a16:creationId xmlns:a16="http://schemas.microsoft.com/office/drawing/2014/main" id="{48677562-359C-23D1-CF36-C4A4D9B63D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df26ad5a7e_0_0:notes">
            <a:extLst>
              <a:ext uri="{FF2B5EF4-FFF2-40B4-BE49-F238E27FC236}">
                <a16:creationId xmlns:a16="http://schemas.microsoft.com/office/drawing/2014/main" id="{39798571-7D88-03A3-9EBB-C94FC28B1A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4160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63928124-736E-51D6-1C11-2CD13C324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f26ad5a7e_0_0:notes">
            <a:extLst>
              <a:ext uri="{FF2B5EF4-FFF2-40B4-BE49-F238E27FC236}">
                <a16:creationId xmlns:a16="http://schemas.microsoft.com/office/drawing/2014/main" id="{8A0F9320-FC8A-E6E1-7D2B-6BCD61C863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df26ad5a7e_0_0:notes">
            <a:extLst>
              <a:ext uri="{FF2B5EF4-FFF2-40B4-BE49-F238E27FC236}">
                <a16:creationId xmlns:a16="http://schemas.microsoft.com/office/drawing/2014/main" id="{440B00D2-16AF-60A7-73AB-58EF8A1E58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9484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df2eef35f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df2eef35f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df2eef35f0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df2eef35f0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D374-17F2-4A4A-8549-B2B6715AA409}" type="datetimeFigureOut">
              <a:rPr lang="da-DK" smtClean="0"/>
              <a:t>01-06-2025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43D2E-5384-4D93-9108-A8E5D72E456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87910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irrors.dotsrc.org/cran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geeksforgeeks.org/how-to-install-r-studio-on-windows-and-linux/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s://posit.co/download/rstudio-desktop/#download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sperSkytte/ampvis2" TargetMode="External"/><Relationship Id="rId7" Type="http://schemas.openxmlformats.org/officeDocument/2006/relationships/hyperlink" Target="https://tidyverse.tidyverse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hyperlink" Target="https://github.com/mpeces/MiDAS_course_2025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mpeces/MiDAS_course_2025" TargetMode="Externa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mpeces/MiDAS_course_2025" TargetMode="Externa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kasperskytte.github.io/ampvis2/articles/ampvis2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316107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b="1" dirty="0"/>
              <a:t>MiDAS course 2025</a:t>
            </a:r>
            <a:endParaRPr b="1" dirty="0"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9961" y="47090"/>
            <a:ext cx="2637504" cy="927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9079" y="3689558"/>
            <a:ext cx="3185842" cy="14539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D5C033-AE10-A071-48AB-66CC39DC58DE}"/>
              </a:ext>
            </a:extLst>
          </p:cNvPr>
          <p:cNvSpPr txBox="1"/>
          <p:nvPr/>
        </p:nvSpPr>
        <p:spPr>
          <a:xfrm>
            <a:off x="0" y="877743"/>
            <a:ext cx="9144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" sz="4800" b="1" dirty="0">
                <a:solidFill>
                  <a:srgbClr val="261659"/>
                </a:solidFill>
              </a:rPr>
              <a:t>Hands-on: </a:t>
            </a:r>
          </a:p>
          <a:p>
            <a:pPr algn="ctr"/>
            <a:r>
              <a:rPr lang="da" sz="4000" b="1" dirty="0">
                <a:solidFill>
                  <a:srgbClr val="261659"/>
                </a:solidFill>
              </a:rPr>
              <a:t>Microbial community analysis using the ampvis2 package 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062C8F1D-44B6-A02F-7B61-A49B8AC17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>
            <a:extLst>
              <a:ext uri="{FF2B5EF4-FFF2-40B4-BE49-F238E27FC236}">
                <a16:creationId xmlns:a16="http://schemas.microsoft.com/office/drawing/2014/main" id="{BDD5397D-2E6C-F682-A54F-C9AA1579256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2675" y="4831425"/>
            <a:ext cx="3141325" cy="31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8474F1B-7D9B-36C4-D1FE-99904628D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897" y="326679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241858"/>
                </a:solidFill>
              </a:rPr>
              <a:t>Aim of the hands-on</a:t>
            </a:r>
            <a:endParaRPr lang="en-US" b="1" dirty="0">
              <a:solidFill>
                <a:srgbClr val="241858"/>
              </a:solidFill>
            </a:endParaRPr>
          </a:p>
        </p:txBody>
      </p:sp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1B880F3D-8CD0-6DEC-F840-261CD162B77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65689" y="47090"/>
            <a:ext cx="921775" cy="32406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79E8EA-6F45-62A9-5400-5FDB1F82DE6D}"/>
              </a:ext>
            </a:extLst>
          </p:cNvPr>
          <p:cNvSpPr txBox="1"/>
          <p:nvPr/>
        </p:nvSpPr>
        <p:spPr>
          <a:xfrm>
            <a:off x="256897" y="1170466"/>
            <a:ext cx="84704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hands-on experience in microbial community analysis using R, with a focus on the ampvis2 package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E9AFAE5-2016-0B38-939E-0FBDE7AFA13C}"/>
              </a:ext>
            </a:extLst>
          </p:cNvPr>
          <p:cNvGrpSpPr/>
          <p:nvPr/>
        </p:nvGrpSpPr>
        <p:grpSpPr>
          <a:xfrm>
            <a:off x="1470785" y="2873080"/>
            <a:ext cx="6202430" cy="1099954"/>
            <a:chOff x="334076" y="2902360"/>
            <a:chExt cx="6202430" cy="109995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4B1072D-9AFA-FA95-8D7D-2B137DC6D0F1}"/>
                </a:ext>
              </a:extLst>
            </p:cNvPr>
            <p:cNvSpPr/>
            <p:nvPr/>
          </p:nvSpPr>
          <p:spPr>
            <a:xfrm>
              <a:off x="334076" y="2902360"/>
              <a:ext cx="1080290" cy="572700"/>
            </a:xfrm>
            <a:prstGeom prst="round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Raw sequences</a:t>
              </a:r>
              <a:endParaRPr lang="en-US" sz="1200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E68E8B4-0DB3-F547-726B-82D770B627B4}"/>
                </a:ext>
              </a:extLst>
            </p:cNvPr>
            <p:cNvSpPr/>
            <p:nvPr/>
          </p:nvSpPr>
          <p:spPr>
            <a:xfrm>
              <a:off x="1672441" y="2902360"/>
              <a:ext cx="1080290" cy="572700"/>
            </a:xfrm>
            <a:prstGeom prst="round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ASV table</a:t>
              </a:r>
              <a:endParaRPr lang="en-US" sz="1200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7DE4B60-9104-1CFD-9AF7-2888D72EF8F3}"/>
                </a:ext>
              </a:extLst>
            </p:cNvPr>
            <p:cNvSpPr/>
            <p:nvPr/>
          </p:nvSpPr>
          <p:spPr>
            <a:xfrm>
              <a:off x="3136271" y="3000680"/>
              <a:ext cx="637838" cy="5727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tx1"/>
                  </a:solidFill>
                </a:rPr>
                <a:t>QC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757846E3-F9B0-649B-EC56-596BA33CA94E}"/>
                </a:ext>
              </a:extLst>
            </p:cNvPr>
            <p:cNvSpPr/>
            <p:nvPr/>
          </p:nvSpPr>
          <p:spPr>
            <a:xfrm>
              <a:off x="4105083" y="2999920"/>
              <a:ext cx="2431423" cy="572700"/>
            </a:xfrm>
            <a:prstGeom prst="roundRect">
              <a:avLst>
                <a:gd name="adj" fmla="val 23788"/>
              </a:avLst>
            </a:prstGeom>
            <a:solidFill>
              <a:srgbClr val="008000"/>
            </a:solidFill>
            <a:ln w="19050">
              <a:solidFill>
                <a:srgbClr val="0048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bg1"/>
                  </a:solidFill>
                </a:rPr>
                <a:t>Data exploration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86931B3-1CBC-4622-4061-D33B797619FF}"/>
                </a:ext>
              </a:extLst>
            </p:cNvPr>
            <p:cNvSpPr/>
            <p:nvPr/>
          </p:nvSpPr>
          <p:spPr>
            <a:xfrm>
              <a:off x="1672441" y="3644080"/>
              <a:ext cx="1080290" cy="358234"/>
            </a:xfrm>
            <a:prstGeom prst="roundRect">
              <a:avLst/>
            </a:prstGeom>
            <a:solidFill>
              <a:schemeClr val="bg2">
                <a:lumMod val="60000"/>
                <a:lumOff val="40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/>
                <a:t>metadata</a:t>
              </a:r>
              <a:endParaRPr lang="en-US" sz="12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82CD5ED-FBCA-5C19-6F0E-B7F216494170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1414366" y="3188710"/>
              <a:ext cx="2580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D0BB6273-7EB8-29E3-F4C0-1FD1135894FE}"/>
                </a:ext>
              </a:extLst>
            </p:cNvPr>
            <p:cNvCxnSpPr>
              <a:stCxn id="9" idx="3"/>
              <a:endCxn id="10" idx="1"/>
            </p:cNvCxnSpPr>
            <p:nvPr/>
          </p:nvCxnSpPr>
          <p:spPr>
            <a:xfrm>
              <a:off x="2752731" y="3188710"/>
              <a:ext cx="383540" cy="98320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A6E2F0AF-B3F9-13AC-6363-464C0BF036C9}"/>
                </a:ext>
              </a:extLst>
            </p:cNvPr>
            <p:cNvCxnSpPr>
              <a:cxnSpLocks/>
              <a:stCxn id="20" idx="3"/>
              <a:endCxn id="10" idx="1"/>
            </p:cNvCxnSpPr>
            <p:nvPr/>
          </p:nvCxnSpPr>
          <p:spPr>
            <a:xfrm flipV="1">
              <a:off x="2752731" y="3287030"/>
              <a:ext cx="383540" cy="536167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84E3615-AA28-5F37-3A56-C8ADD35B741E}"/>
                </a:ext>
              </a:extLst>
            </p:cNvPr>
            <p:cNvCxnSpPr>
              <a:cxnSpLocks/>
              <a:stCxn id="10" idx="3"/>
              <a:endCxn id="17" idx="1"/>
            </p:cNvCxnSpPr>
            <p:nvPr/>
          </p:nvCxnSpPr>
          <p:spPr>
            <a:xfrm flipV="1">
              <a:off x="3774109" y="3286270"/>
              <a:ext cx="330974" cy="7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53FB956-C271-6EA6-B19C-AADA7F5F270F}"/>
              </a:ext>
            </a:extLst>
          </p:cNvPr>
          <p:cNvSpPr txBox="1"/>
          <p:nvPr/>
        </p:nvSpPr>
        <p:spPr>
          <a:xfrm>
            <a:off x="256897" y="2126696"/>
            <a:ext cx="84704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of typical workflow: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DEB48C-926F-6869-379B-57FA35F2A9BD}"/>
              </a:ext>
            </a:extLst>
          </p:cNvPr>
          <p:cNvSpPr/>
          <p:nvPr/>
        </p:nvSpPr>
        <p:spPr>
          <a:xfrm>
            <a:off x="4195143" y="2833671"/>
            <a:ext cx="3748070" cy="1139363"/>
          </a:xfrm>
          <a:prstGeom prst="rect">
            <a:avLst/>
          </a:prstGeom>
          <a:solidFill>
            <a:srgbClr val="A9DC9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59D5DF-01A3-03C6-C30B-AB9FF390B5EA}"/>
              </a:ext>
            </a:extLst>
          </p:cNvPr>
          <p:cNvSpPr txBox="1"/>
          <p:nvPr/>
        </p:nvSpPr>
        <p:spPr>
          <a:xfrm>
            <a:off x="6955297" y="2565303"/>
            <a:ext cx="1236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Hands-on</a:t>
            </a:r>
          </a:p>
        </p:txBody>
      </p:sp>
    </p:spTree>
    <p:extLst>
      <p:ext uri="{BB962C8B-B14F-4D97-AF65-F5344CB8AC3E}">
        <p14:creationId xmlns:p14="http://schemas.microsoft.com/office/powerpoint/2010/main" val="2882343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/>
          <p:cNvSpPr/>
          <p:nvPr/>
        </p:nvSpPr>
        <p:spPr>
          <a:xfrm>
            <a:off x="151913" y="-85928"/>
            <a:ext cx="8088120" cy="8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>
              <a:lnSpc>
                <a:spcPct val="90000"/>
              </a:lnSpc>
              <a:spcBef>
                <a:spcPts val="481"/>
              </a:spcBef>
            </a:pPr>
            <a:r>
              <a:rPr lang="en-US" sz="2500" b="1" dirty="0">
                <a:solidFill>
                  <a:srgbClr val="241858"/>
                </a:solidFill>
                <a:latin typeface="Arial"/>
                <a:cs typeface="Arial"/>
              </a:rPr>
              <a:t>The ampvis2 R package</a:t>
            </a:r>
          </a:p>
        </p:txBody>
      </p:sp>
      <p:sp>
        <p:nvSpPr>
          <p:cNvPr id="7" name="CustomShape 4"/>
          <p:cNvSpPr/>
          <p:nvPr/>
        </p:nvSpPr>
        <p:spPr>
          <a:xfrm>
            <a:off x="457650" y="834570"/>
            <a:ext cx="8227980" cy="37589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sz="1050"/>
          </a:p>
        </p:txBody>
      </p:sp>
      <p:pic>
        <p:nvPicPr>
          <p:cNvPr id="8" name="Picture 7"/>
          <p:cNvPicPr/>
          <p:nvPr/>
        </p:nvPicPr>
        <p:blipFill>
          <a:blip r:embed="rId2"/>
          <a:stretch/>
        </p:blipFill>
        <p:spPr>
          <a:xfrm>
            <a:off x="2865152" y="3215978"/>
            <a:ext cx="2945254" cy="1821661"/>
          </a:xfrm>
          <a:prstGeom prst="rect">
            <a:avLst/>
          </a:prstGeom>
          <a:ln w="0">
            <a:noFill/>
          </a:ln>
        </p:spPr>
      </p:pic>
      <p:pic>
        <p:nvPicPr>
          <p:cNvPr id="11" name="Picture 10"/>
          <p:cNvPicPr/>
          <p:nvPr/>
        </p:nvPicPr>
        <p:blipFill>
          <a:blip r:embed="rId3"/>
          <a:stretch/>
        </p:blipFill>
        <p:spPr>
          <a:xfrm>
            <a:off x="5332626" y="580250"/>
            <a:ext cx="2548107" cy="1627261"/>
          </a:xfrm>
          <a:prstGeom prst="rect">
            <a:avLst/>
          </a:prstGeom>
          <a:ln w="0">
            <a:noFill/>
          </a:ln>
        </p:spPr>
      </p:pic>
      <p:pic>
        <p:nvPicPr>
          <p:cNvPr id="12" name="Picture 11"/>
          <p:cNvPicPr/>
          <p:nvPr/>
        </p:nvPicPr>
        <p:blipFill>
          <a:blip r:embed="rId4"/>
          <a:stretch/>
        </p:blipFill>
        <p:spPr>
          <a:xfrm>
            <a:off x="68129" y="3129000"/>
            <a:ext cx="2752763" cy="1702425"/>
          </a:xfrm>
          <a:prstGeom prst="rect">
            <a:avLst/>
          </a:prstGeom>
          <a:ln w="0">
            <a:noFill/>
          </a:ln>
        </p:spPr>
      </p:pic>
      <p:pic>
        <p:nvPicPr>
          <p:cNvPr id="13" name="Picture 12"/>
          <p:cNvPicPr/>
          <p:nvPr/>
        </p:nvPicPr>
        <p:blipFill rotWithShape="1">
          <a:blip r:embed="rId5"/>
          <a:srcRect b="3242"/>
          <a:stretch/>
        </p:blipFill>
        <p:spPr>
          <a:xfrm>
            <a:off x="5761199" y="2589728"/>
            <a:ext cx="3005895" cy="1909106"/>
          </a:xfrm>
          <a:prstGeom prst="rect">
            <a:avLst/>
          </a:prstGeom>
          <a:ln w="0">
            <a:noFill/>
          </a:ln>
        </p:spPr>
      </p:pic>
      <p:pic>
        <p:nvPicPr>
          <p:cNvPr id="2" name="Google Shape;66;p14">
            <a:extLst>
              <a:ext uri="{FF2B5EF4-FFF2-40B4-BE49-F238E27FC236}">
                <a16:creationId xmlns:a16="http://schemas.microsoft.com/office/drawing/2014/main" id="{54AA9DEB-86CA-021A-1C3B-6F91F47712B5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02675" y="4831425"/>
            <a:ext cx="3141325" cy="312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40B0F6-321D-B929-13FC-0B61CBADC94E}"/>
              </a:ext>
            </a:extLst>
          </p:cNvPr>
          <p:cNvSpPr txBox="1"/>
          <p:nvPr/>
        </p:nvSpPr>
        <p:spPr>
          <a:xfrm>
            <a:off x="147183" y="64990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Tools for </a:t>
            </a:r>
            <a:r>
              <a:rPr lang="en-US" sz="1800" dirty="0" err="1"/>
              <a:t>visualising</a:t>
            </a:r>
            <a:r>
              <a:rPr lang="en-US" sz="1800" dirty="0"/>
              <a:t> amplicon 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8839B1-E361-B1FF-D164-395553AA5A43}"/>
              </a:ext>
            </a:extLst>
          </p:cNvPr>
          <p:cNvSpPr txBox="1"/>
          <p:nvPr/>
        </p:nvSpPr>
        <p:spPr>
          <a:xfrm>
            <a:off x="133378" y="2760311"/>
            <a:ext cx="1204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Heatmaps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4876E9-E7D9-3B43-36D2-C8945E2FA0EA}"/>
              </a:ext>
            </a:extLst>
          </p:cNvPr>
          <p:cNvSpPr txBox="1"/>
          <p:nvPr/>
        </p:nvSpPr>
        <p:spPr>
          <a:xfrm>
            <a:off x="3215321" y="2941934"/>
            <a:ext cx="1204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Boxplots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8A7122-0A52-0114-79CF-A26F8A628D10}"/>
              </a:ext>
            </a:extLst>
          </p:cNvPr>
          <p:cNvSpPr txBox="1"/>
          <p:nvPr/>
        </p:nvSpPr>
        <p:spPr>
          <a:xfrm>
            <a:off x="5303614" y="288878"/>
            <a:ext cx="1204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Ordinations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2F74FD-1AC2-79DD-3C1D-37CD46C57E60}"/>
              </a:ext>
            </a:extLst>
          </p:cNvPr>
          <p:cNvSpPr txBox="1"/>
          <p:nvPr/>
        </p:nvSpPr>
        <p:spPr>
          <a:xfrm>
            <a:off x="5672679" y="2287930"/>
            <a:ext cx="1204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Time-series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3D6F05-8DCA-9293-F44E-A6A83A7D089A}"/>
              </a:ext>
            </a:extLst>
          </p:cNvPr>
          <p:cNvSpPr txBox="1"/>
          <p:nvPr/>
        </p:nvSpPr>
        <p:spPr>
          <a:xfrm>
            <a:off x="7824336" y="4573274"/>
            <a:ext cx="1204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 more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EAF9D10-544A-DF3A-2628-2744DD745020}"/>
              </a:ext>
            </a:extLst>
          </p:cNvPr>
          <p:cNvGrpSpPr/>
          <p:nvPr/>
        </p:nvGrpSpPr>
        <p:grpSpPr>
          <a:xfrm>
            <a:off x="266528" y="1251490"/>
            <a:ext cx="4305112" cy="1094945"/>
            <a:chOff x="429476" y="1288244"/>
            <a:chExt cx="4289707" cy="109102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ED0A111-8233-A734-8AA1-C320F6D08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9476" y="1288244"/>
              <a:ext cx="4289707" cy="1083407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CE95A49-A098-374E-4C47-2269402D4E0D}"/>
                </a:ext>
              </a:extLst>
            </p:cNvPr>
            <p:cNvSpPr/>
            <p:nvPr/>
          </p:nvSpPr>
          <p:spPr>
            <a:xfrm>
              <a:off x="1386840" y="2215131"/>
              <a:ext cx="238125" cy="1641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33295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3A4C2F34-C67C-30F5-D75B-70D84295C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A0CD04FB-DB10-6D7A-B7AB-62D894EBA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6729" y="1140444"/>
            <a:ext cx="8520600" cy="27426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</a:pPr>
            <a:r>
              <a:rPr lang="da" dirty="0">
                <a:solidFill>
                  <a:schemeClr val="tx1"/>
                </a:solidFill>
              </a:rPr>
              <a:t>Install R and Rstudio (if not done)</a:t>
            </a:r>
            <a:endParaRPr dirty="0"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</a:pPr>
            <a:r>
              <a:rPr lang="da" dirty="0">
                <a:solidFill>
                  <a:schemeClr val="tx1"/>
                </a:solidFill>
              </a:rPr>
              <a:t>Install </a:t>
            </a:r>
            <a:r>
              <a:rPr lang="da" i="1" dirty="0">
                <a:solidFill>
                  <a:schemeClr val="tx1"/>
                </a:solidFill>
              </a:rPr>
              <a:t>ampvis2 </a:t>
            </a:r>
            <a:r>
              <a:rPr lang="da" dirty="0">
                <a:solidFill>
                  <a:schemeClr val="tx1"/>
                </a:solidFill>
              </a:rPr>
              <a:t>in Rstudio</a:t>
            </a:r>
            <a:endParaRPr i="1" dirty="0"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</a:pPr>
            <a:r>
              <a:rPr lang="da" dirty="0">
                <a:solidFill>
                  <a:schemeClr val="tx1"/>
                </a:solidFill>
              </a:rPr>
              <a:t>Download data from github 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</a:pPr>
            <a:r>
              <a:rPr lang="da" dirty="0">
                <a:solidFill>
                  <a:schemeClr val="tx1"/>
                </a:solidFill>
              </a:rPr>
              <a:t>Load data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Char char="●"/>
            </a:pPr>
            <a:r>
              <a:rPr lang="da" dirty="0">
                <a:solidFill>
                  <a:schemeClr val="tx1"/>
                </a:solidFill>
              </a:rPr>
              <a:t>Explore data! 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66" name="Google Shape;66;p14">
            <a:extLst>
              <a:ext uri="{FF2B5EF4-FFF2-40B4-BE49-F238E27FC236}">
                <a16:creationId xmlns:a16="http://schemas.microsoft.com/office/drawing/2014/main" id="{13E2D253-CE0D-B697-2F19-E81137A3760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2675" y="4831425"/>
            <a:ext cx="3141325" cy="31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A3AC430-1215-D46C-1AD4-9360A25C8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29" y="437831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241858"/>
                </a:solidFill>
              </a:rPr>
              <a:t>Structure of the hands-on</a:t>
            </a:r>
            <a:endParaRPr lang="en-US" b="1" dirty="0">
              <a:solidFill>
                <a:srgbClr val="241858"/>
              </a:solidFill>
            </a:endParaRPr>
          </a:p>
        </p:txBody>
      </p:sp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18FE359F-BAA7-EAF9-44E1-971A1EB2E0E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9961" y="47090"/>
            <a:ext cx="2637504" cy="9272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0387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246743" y="40505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sz="2500" b="1" dirty="0">
                <a:solidFill>
                  <a:srgbClr val="241858"/>
                </a:solidFill>
              </a:rPr>
              <a:t>Install R and Rstudio </a:t>
            </a:r>
            <a:endParaRPr sz="2500" b="1" dirty="0">
              <a:solidFill>
                <a:srgbClr val="241858"/>
              </a:solidFill>
            </a:endParaRPr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dirty="0">
                <a:solidFill>
                  <a:schemeClr val="tx1"/>
                </a:solidFill>
              </a:rPr>
              <a:t>Download R: </a:t>
            </a:r>
            <a:r>
              <a:rPr lang="da" u="sng" dirty="0">
                <a:solidFill>
                  <a:schemeClr val="hlink"/>
                </a:solidFill>
                <a:hlinkClick r:id="rId3"/>
              </a:rPr>
              <a:t>https://mirrors.dotsrc.org/cran/</a:t>
            </a:r>
            <a:r>
              <a:rPr lang="da" dirty="0"/>
              <a:t>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a" dirty="0">
                <a:solidFill>
                  <a:schemeClr val="tx1"/>
                </a:solidFill>
              </a:rPr>
              <a:t>Download Rstudio: </a:t>
            </a:r>
            <a:r>
              <a:rPr lang="da" u="sng" dirty="0">
                <a:solidFill>
                  <a:schemeClr val="hlink"/>
                </a:solidFill>
                <a:hlinkClick r:id="rId4"/>
              </a:rPr>
              <a:t>https://posit.co/download/rstudio-desktop/#download</a:t>
            </a:r>
            <a:r>
              <a:rPr lang="da" dirty="0"/>
              <a:t>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2675" y="4831425"/>
            <a:ext cx="3141325" cy="31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C044AF-4F76-B7E4-95FE-0AC0690937C6}"/>
              </a:ext>
            </a:extLst>
          </p:cNvPr>
          <p:cNvSpPr txBox="1"/>
          <p:nvPr/>
        </p:nvSpPr>
        <p:spPr>
          <a:xfrm>
            <a:off x="311700" y="3729415"/>
            <a:ext cx="82376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See guide: </a:t>
            </a:r>
            <a:r>
              <a:rPr lang="en-US" u="sng" dirty="0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https://www.geeksforgeeks.org/how-to-install-r-studio-on-windows-and-linux/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9A48DA73-736F-3586-69C1-A7EFC873C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1C1AD9E6-DE37-D4AD-202A-9632F254D1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743" y="40505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sz="2500" b="1" dirty="0">
                <a:solidFill>
                  <a:srgbClr val="241858"/>
                </a:solidFill>
              </a:rPr>
              <a:t>Install ampvis2 in Rstudio</a:t>
            </a:r>
            <a:endParaRPr sz="2500" b="1" dirty="0">
              <a:solidFill>
                <a:srgbClr val="241858"/>
              </a:solidFill>
            </a:endParaRP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8F508AB0-8E9C-DECF-B644-DF21FC8DB3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dirty="0">
                <a:solidFill>
                  <a:schemeClr val="tx1"/>
                </a:solidFill>
              </a:rPr>
              <a:t>Go to documentation: </a:t>
            </a:r>
            <a:r>
              <a:rPr lang="en-US" dirty="0">
                <a:hlinkClick r:id="rId3"/>
              </a:rPr>
              <a:t>https://github.com/KasperSkytte/ampvis2</a:t>
            </a:r>
            <a:r>
              <a:rPr lang="en-US" dirty="0"/>
              <a:t>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AD0F94DA-693D-8577-3610-43369FE9CB5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2675" y="4831425"/>
            <a:ext cx="3141325" cy="31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320CC0-2A77-CA5F-B45F-448DAE2D44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00" y="1809828"/>
            <a:ext cx="7280223" cy="680159"/>
          </a:xfrm>
          <a:prstGeom prst="rect">
            <a:avLst/>
          </a:prstGeom>
        </p:spPr>
      </p:pic>
      <p:sp>
        <p:nvSpPr>
          <p:cNvPr id="2" name="Google Shape;71;p15">
            <a:extLst>
              <a:ext uri="{FF2B5EF4-FFF2-40B4-BE49-F238E27FC236}">
                <a16:creationId xmlns:a16="http://schemas.microsoft.com/office/drawing/2014/main" id="{6146D3EE-3D32-FE31-DFF1-0E8184319761}"/>
              </a:ext>
            </a:extLst>
          </p:cNvPr>
          <p:cNvSpPr txBox="1">
            <a:spLocks/>
          </p:cNvSpPr>
          <p:nvPr/>
        </p:nvSpPr>
        <p:spPr>
          <a:xfrm>
            <a:off x="334318" y="292056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500" b="1" dirty="0">
                <a:solidFill>
                  <a:srgbClr val="241858"/>
                </a:solidFill>
              </a:rPr>
              <a:t>Install other packages in </a:t>
            </a:r>
            <a:r>
              <a:rPr lang="en-US" sz="2500" b="1" dirty="0" err="1">
                <a:solidFill>
                  <a:srgbClr val="241858"/>
                </a:solidFill>
              </a:rPr>
              <a:t>Rstudio</a:t>
            </a:r>
            <a:endParaRPr lang="en-US" sz="2500" b="1" dirty="0">
              <a:solidFill>
                <a:srgbClr val="24185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C3F1D7-CF4B-CA33-09EE-F0D9699608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447" y="3828143"/>
            <a:ext cx="5561228" cy="5358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C0183B-91A1-920E-0334-A0B69D158A29}"/>
              </a:ext>
            </a:extLst>
          </p:cNvPr>
          <p:cNvSpPr txBox="1"/>
          <p:nvPr/>
        </p:nvSpPr>
        <p:spPr>
          <a:xfrm>
            <a:off x="373192" y="346946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7"/>
              </a:rPr>
              <a:t>https://tidyverse.tidyverse.org/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5523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6190D316-28C1-F438-F01B-53019A090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>
            <a:extLst>
              <a:ext uri="{FF2B5EF4-FFF2-40B4-BE49-F238E27FC236}">
                <a16:creationId xmlns:a16="http://schemas.microsoft.com/office/drawing/2014/main" id="{FDB11A3A-5F6D-ED79-D71E-D5328DCEE9D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2675" y="4831425"/>
            <a:ext cx="3141325" cy="31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CF5E9635-4B63-4D52-4A4C-1A0CFCA1C23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65689" y="47090"/>
            <a:ext cx="921775" cy="324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62BD9A-4501-0AF1-4951-335DEE4600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704" y="994787"/>
            <a:ext cx="3248310" cy="36494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itle 2">
            <a:extLst>
              <a:ext uri="{FF2B5EF4-FFF2-40B4-BE49-F238E27FC236}">
                <a16:creationId xmlns:a16="http://schemas.microsoft.com/office/drawing/2014/main" id="{16656833-7115-FC30-5864-2FEAA8246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897" y="173003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241858"/>
                </a:solidFill>
              </a:rPr>
              <a:t>Data for the hands-on</a:t>
            </a:r>
            <a:endParaRPr lang="en-US" b="1" dirty="0">
              <a:solidFill>
                <a:srgbClr val="241858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5DA1B7-B8EC-A9B2-A4E5-E7DD5A8E835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4368" b="41747"/>
          <a:stretch/>
        </p:blipFill>
        <p:spPr>
          <a:xfrm>
            <a:off x="4517197" y="687596"/>
            <a:ext cx="1969477" cy="1968959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629DBEF-CCD6-84B2-EDA3-FE8EEE8390FF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541014" y="2376435"/>
            <a:ext cx="976183" cy="44308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BEEB92E-896D-9828-1B09-698DEED44F92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6486674" y="1672076"/>
            <a:ext cx="612486" cy="105605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F7FB67A-2B92-919D-C98D-FD91C11491CB}"/>
              </a:ext>
            </a:extLst>
          </p:cNvPr>
          <p:cNvSpPr txBox="1"/>
          <p:nvPr/>
        </p:nvSpPr>
        <p:spPr>
          <a:xfrm>
            <a:off x="6449771" y="3059920"/>
            <a:ext cx="26376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 WWTPs</a:t>
            </a:r>
          </a:p>
          <a:p>
            <a:r>
              <a:rPr lang="en-GB" dirty="0"/>
              <a:t>~ 140 samples</a:t>
            </a:r>
          </a:p>
          <a:p>
            <a:r>
              <a:rPr lang="en-GB" dirty="0"/>
              <a:t>January – December 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514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9497EE05-02EA-CF75-C476-1A0F35B4E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543080CB-CCE7-8C1A-884D-FFDD36E19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743" y="40505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sz="2500" b="1" dirty="0">
                <a:solidFill>
                  <a:srgbClr val="241858"/>
                </a:solidFill>
              </a:rPr>
              <a:t>Find and download data</a:t>
            </a:r>
            <a:endParaRPr sz="2500" b="1" dirty="0">
              <a:solidFill>
                <a:srgbClr val="241858"/>
              </a:solidFill>
            </a:endParaRPr>
          </a:p>
        </p:txBody>
      </p: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EAB732FF-04DF-1A0D-4E28-FB7C0232526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2675" y="4831425"/>
            <a:ext cx="3141325" cy="312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6E4AF7-60C7-DAD3-AF90-91B6CEF03066}"/>
              </a:ext>
            </a:extLst>
          </p:cNvPr>
          <p:cNvSpPr txBox="1"/>
          <p:nvPr/>
        </p:nvSpPr>
        <p:spPr>
          <a:xfrm>
            <a:off x="273028" y="104161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4"/>
              </a:rPr>
              <a:t>https://github.com/mpeces/MiDAS_course_2025</a:t>
            </a:r>
            <a:r>
              <a:rPr lang="en-US" sz="1600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B84079-EC93-30DA-6BBF-31C0BE96E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6689" y="1508255"/>
            <a:ext cx="5080654" cy="326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041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CE673415-388B-129E-F5EF-1012863DF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5ACC6A-5BF1-69A2-7C99-A10107E71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997" y="1386106"/>
            <a:ext cx="5890383" cy="3445319"/>
          </a:xfrm>
          <a:prstGeom prst="rect">
            <a:avLst/>
          </a:prstGeom>
        </p:spPr>
      </p:pic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7D077C3C-0109-F455-E315-5C84601CB7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743" y="40505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sz="2500" b="1" dirty="0">
                <a:solidFill>
                  <a:srgbClr val="241858"/>
                </a:solidFill>
              </a:rPr>
              <a:t>Find and download data</a:t>
            </a:r>
            <a:endParaRPr sz="2500" b="1" dirty="0">
              <a:solidFill>
                <a:srgbClr val="241858"/>
              </a:solidFill>
            </a:endParaRPr>
          </a:p>
        </p:txBody>
      </p: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D5275764-8D03-5B62-A077-3F34CA4DFA5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2675" y="4831425"/>
            <a:ext cx="3141325" cy="312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AD4191-A3C0-5B96-D81C-FA64095AA438}"/>
              </a:ext>
            </a:extLst>
          </p:cNvPr>
          <p:cNvSpPr txBox="1"/>
          <p:nvPr/>
        </p:nvSpPr>
        <p:spPr>
          <a:xfrm>
            <a:off x="273028" y="104161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5"/>
              </a:rPr>
              <a:t>https://github.com/mpeces/MiDAS_course_2025</a:t>
            </a:r>
            <a:r>
              <a:rPr lang="en-US" sz="1600" dirty="0"/>
              <a:t> </a:t>
            </a:r>
          </a:p>
        </p:txBody>
      </p:sp>
      <p:cxnSp>
        <p:nvCxnSpPr>
          <p:cNvPr id="5" name="Google Shape;103;p18">
            <a:extLst>
              <a:ext uri="{FF2B5EF4-FFF2-40B4-BE49-F238E27FC236}">
                <a16:creationId xmlns:a16="http://schemas.microsoft.com/office/drawing/2014/main" id="{8519B502-6C89-2A67-2995-FECEF3E968BD}"/>
              </a:ext>
            </a:extLst>
          </p:cNvPr>
          <p:cNvCxnSpPr/>
          <p:nvPr/>
        </p:nvCxnSpPr>
        <p:spPr>
          <a:xfrm rot="10800000" flipH="1">
            <a:off x="5357920" y="3694028"/>
            <a:ext cx="414600" cy="485100"/>
          </a:xfrm>
          <a:prstGeom prst="straightConnector1">
            <a:avLst/>
          </a:prstGeom>
          <a:noFill/>
          <a:ln w="38100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" name="Google Shape;104;p18">
            <a:extLst>
              <a:ext uri="{FF2B5EF4-FFF2-40B4-BE49-F238E27FC236}">
                <a16:creationId xmlns:a16="http://schemas.microsoft.com/office/drawing/2014/main" id="{EC5E27EE-EFB4-69F6-32B4-E832A4D98B6D}"/>
              </a:ext>
            </a:extLst>
          </p:cNvPr>
          <p:cNvSpPr/>
          <p:nvPr/>
        </p:nvSpPr>
        <p:spPr>
          <a:xfrm>
            <a:off x="7519809" y="1525912"/>
            <a:ext cx="780350" cy="237300"/>
          </a:xfrm>
          <a:prstGeom prst="rect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1241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0AF0D0F8-9E76-7290-6B4E-CAD883F77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161225-9F1B-EB0E-7C29-AF61DC896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97" y="1510043"/>
            <a:ext cx="7818120" cy="3228406"/>
          </a:xfrm>
          <a:prstGeom prst="rect">
            <a:avLst/>
          </a:prstGeom>
        </p:spPr>
      </p:pic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267C407E-EB45-7752-4A9F-0C02E71116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743" y="40505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sz="2500" b="1" dirty="0">
                <a:solidFill>
                  <a:srgbClr val="241858"/>
                </a:solidFill>
              </a:rPr>
              <a:t>Find and download data</a:t>
            </a:r>
            <a:endParaRPr sz="2500" b="1" dirty="0">
              <a:solidFill>
                <a:srgbClr val="241858"/>
              </a:solidFill>
            </a:endParaRPr>
          </a:p>
        </p:txBody>
      </p: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AB94D9E3-D552-75F0-F9AC-3B2423C5E5B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2675" y="4831425"/>
            <a:ext cx="3141325" cy="312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5680D8-ABFB-9405-6942-5102860D7386}"/>
              </a:ext>
            </a:extLst>
          </p:cNvPr>
          <p:cNvSpPr txBox="1"/>
          <p:nvPr/>
        </p:nvSpPr>
        <p:spPr>
          <a:xfrm>
            <a:off x="273028" y="104161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5"/>
              </a:rPr>
              <a:t>https://github.com/mpeces/MiDAS_course_2025</a:t>
            </a:r>
            <a:r>
              <a:rPr lang="en-US" sz="1600" dirty="0"/>
              <a:t> </a:t>
            </a:r>
          </a:p>
        </p:txBody>
      </p:sp>
      <p:cxnSp>
        <p:nvCxnSpPr>
          <p:cNvPr id="10" name="Google Shape;127;p20">
            <a:extLst>
              <a:ext uri="{FF2B5EF4-FFF2-40B4-BE49-F238E27FC236}">
                <a16:creationId xmlns:a16="http://schemas.microsoft.com/office/drawing/2014/main" id="{B1F6AC96-EA40-C66F-8667-34F7D048BD79}"/>
              </a:ext>
            </a:extLst>
          </p:cNvPr>
          <p:cNvCxnSpPr>
            <a:cxnSpLocks/>
          </p:cNvCxnSpPr>
          <p:nvPr/>
        </p:nvCxnSpPr>
        <p:spPr>
          <a:xfrm flipH="1">
            <a:off x="2110107" y="2994141"/>
            <a:ext cx="596483" cy="320352"/>
          </a:xfrm>
          <a:prstGeom prst="straightConnector1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128;p20">
            <a:extLst>
              <a:ext uri="{FF2B5EF4-FFF2-40B4-BE49-F238E27FC236}">
                <a16:creationId xmlns:a16="http://schemas.microsoft.com/office/drawing/2014/main" id="{5E6F7BE2-A233-8B4D-D918-856DE463C484}"/>
              </a:ext>
            </a:extLst>
          </p:cNvPr>
          <p:cNvSpPr txBox="1"/>
          <p:nvPr/>
        </p:nvSpPr>
        <p:spPr>
          <a:xfrm>
            <a:off x="2819107" y="2755221"/>
            <a:ext cx="2537700" cy="42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sz="1600" dirty="0">
                <a:solidFill>
                  <a:schemeClr val="dk2"/>
                </a:solidFill>
              </a:rPr>
              <a:t>MiDAS 5.3 taxonomy </a:t>
            </a:r>
            <a:endParaRPr sz="1600" dirty="0">
              <a:solidFill>
                <a:schemeClr val="dk2"/>
              </a:solidFill>
            </a:endParaRPr>
          </a:p>
        </p:txBody>
      </p:sp>
      <p:cxnSp>
        <p:nvCxnSpPr>
          <p:cNvPr id="12" name="Google Shape;129;p20">
            <a:extLst>
              <a:ext uri="{FF2B5EF4-FFF2-40B4-BE49-F238E27FC236}">
                <a16:creationId xmlns:a16="http://schemas.microsoft.com/office/drawing/2014/main" id="{16801761-2138-3E26-8832-BD65B0A2D344}"/>
              </a:ext>
            </a:extLst>
          </p:cNvPr>
          <p:cNvCxnSpPr/>
          <p:nvPr/>
        </p:nvCxnSpPr>
        <p:spPr>
          <a:xfrm rot="10800000">
            <a:off x="1813000" y="4107320"/>
            <a:ext cx="1190700" cy="35400"/>
          </a:xfrm>
          <a:prstGeom prst="straightConnector1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130;p20">
            <a:extLst>
              <a:ext uri="{FF2B5EF4-FFF2-40B4-BE49-F238E27FC236}">
                <a16:creationId xmlns:a16="http://schemas.microsoft.com/office/drawing/2014/main" id="{5B4B9B09-C662-F9C3-6CAA-E8496828791E}"/>
              </a:ext>
            </a:extLst>
          </p:cNvPr>
          <p:cNvSpPr txBox="1"/>
          <p:nvPr/>
        </p:nvSpPr>
        <p:spPr>
          <a:xfrm>
            <a:off x="3105030" y="3884438"/>
            <a:ext cx="2537700" cy="42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sz="1600" dirty="0">
                <a:solidFill>
                  <a:schemeClr val="dk2"/>
                </a:solidFill>
              </a:rPr>
              <a:t>ASV table</a:t>
            </a:r>
            <a:endParaRPr sz="1600" dirty="0">
              <a:solidFill>
                <a:schemeClr val="dk2"/>
              </a:solidFill>
            </a:endParaRPr>
          </a:p>
        </p:txBody>
      </p:sp>
      <p:cxnSp>
        <p:nvCxnSpPr>
          <p:cNvPr id="14" name="Google Shape;131;p20">
            <a:extLst>
              <a:ext uri="{FF2B5EF4-FFF2-40B4-BE49-F238E27FC236}">
                <a16:creationId xmlns:a16="http://schemas.microsoft.com/office/drawing/2014/main" id="{DD652120-3AE7-B3F9-5888-3A0C982E8019}"/>
              </a:ext>
            </a:extLst>
          </p:cNvPr>
          <p:cNvCxnSpPr/>
          <p:nvPr/>
        </p:nvCxnSpPr>
        <p:spPr>
          <a:xfrm rot="10800000">
            <a:off x="2241458" y="4471554"/>
            <a:ext cx="1155300" cy="141000"/>
          </a:xfrm>
          <a:prstGeom prst="straightConnector1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Google Shape;132;p20">
            <a:extLst>
              <a:ext uri="{FF2B5EF4-FFF2-40B4-BE49-F238E27FC236}">
                <a16:creationId xmlns:a16="http://schemas.microsoft.com/office/drawing/2014/main" id="{1E5E8C8C-2420-66AA-8088-C81C27AC9C8F}"/>
              </a:ext>
            </a:extLst>
          </p:cNvPr>
          <p:cNvSpPr txBox="1"/>
          <p:nvPr/>
        </p:nvSpPr>
        <p:spPr>
          <a:xfrm>
            <a:off x="3464975" y="4459318"/>
            <a:ext cx="2537700" cy="42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sz="1600" dirty="0">
                <a:solidFill>
                  <a:schemeClr val="dk2"/>
                </a:solidFill>
              </a:rPr>
              <a:t>Sample metadata</a:t>
            </a:r>
            <a:endParaRPr sz="1600" dirty="0">
              <a:solidFill>
                <a:schemeClr val="dk2"/>
              </a:solidFill>
            </a:endParaRPr>
          </a:p>
        </p:txBody>
      </p:sp>
      <p:cxnSp>
        <p:nvCxnSpPr>
          <p:cNvPr id="16" name="Google Shape;133;p20">
            <a:extLst>
              <a:ext uri="{FF2B5EF4-FFF2-40B4-BE49-F238E27FC236}">
                <a16:creationId xmlns:a16="http://schemas.microsoft.com/office/drawing/2014/main" id="{00480BA9-BEDB-A2A0-6E82-B4231DEDBB94}"/>
              </a:ext>
            </a:extLst>
          </p:cNvPr>
          <p:cNvCxnSpPr/>
          <p:nvPr/>
        </p:nvCxnSpPr>
        <p:spPr>
          <a:xfrm flipH="1">
            <a:off x="2340590" y="3697406"/>
            <a:ext cx="732000" cy="9000"/>
          </a:xfrm>
          <a:prstGeom prst="straightConnector1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Google Shape;134;p20">
            <a:extLst>
              <a:ext uri="{FF2B5EF4-FFF2-40B4-BE49-F238E27FC236}">
                <a16:creationId xmlns:a16="http://schemas.microsoft.com/office/drawing/2014/main" id="{3C8B2109-C167-4C7C-BD6D-7B82F6DB4943}"/>
              </a:ext>
            </a:extLst>
          </p:cNvPr>
          <p:cNvSpPr txBox="1"/>
          <p:nvPr/>
        </p:nvSpPr>
        <p:spPr>
          <a:xfrm>
            <a:off x="3242543" y="3295404"/>
            <a:ext cx="1957500" cy="42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sz="1600" dirty="0">
                <a:solidFill>
                  <a:schemeClr val="dk2"/>
                </a:solidFill>
              </a:rPr>
              <a:t>SILVA taxonomy</a:t>
            </a:r>
            <a:endParaRPr sz="16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857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b="1" dirty="0">
                <a:solidFill>
                  <a:srgbClr val="241858"/>
                </a:solidFill>
              </a:rPr>
              <a:t>Install ampvis2 </a:t>
            </a:r>
            <a:r>
              <a:rPr lang="da" sz="2058" dirty="0">
                <a:solidFill>
                  <a:schemeClr val="dk2"/>
                </a:solidFill>
              </a:rPr>
              <a:t>(</a:t>
            </a:r>
            <a:r>
              <a:rPr lang="da" sz="1566" u="sng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https://kasperskytte.github.io/ampvis2/articles/ampvis2.html</a:t>
            </a:r>
            <a:r>
              <a:rPr lang="da" sz="2050" dirty="0">
                <a:solidFill>
                  <a:schemeClr val="dk2"/>
                </a:solidFill>
              </a:rPr>
              <a:t>)</a:t>
            </a:r>
            <a:r>
              <a:rPr lang="da" sz="3466" dirty="0"/>
              <a:t> </a:t>
            </a:r>
            <a:endParaRPr sz="3466" dirty="0"/>
          </a:p>
        </p:txBody>
      </p:sp>
      <p:sp>
        <p:nvSpPr>
          <p:cNvPr id="162" name="Google Shape;162;p22"/>
          <p:cNvSpPr txBox="1">
            <a:spLocks noGrp="1"/>
          </p:cNvSpPr>
          <p:nvPr>
            <p:ph type="body" idx="1"/>
          </p:nvPr>
        </p:nvSpPr>
        <p:spPr>
          <a:xfrm>
            <a:off x="311700" y="1110550"/>
            <a:ext cx="8520600" cy="37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dirty="0"/>
              <a:t>In the R terminal: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dirty="0">
                <a:latin typeface="Courier New"/>
                <a:ea typeface="Courier New"/>
                <a:cs typeface="Courier New"/>
                <a:sym typeface="Courier New"/>
              </a:rPr>
              <a:t>install.packages("remotes")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a" dirty="0">
                <a:latin typeface="Courier New"/>
                <a:ea typeface="Courier New"/>
                <a:cs typeface="Courier New"/>
                <a:sym typeface="Courier New"/>
              </a:rPr>
              <a:t>remotes::install_github("kasperskytte/ampvis2")</a:t>
            </a:r>
            <a:endParaRPr sz="951"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a" dirty="0"/>
              <a:t>Other needed packages: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a" dirty="0">
                <a:latin typeface="Courier New"/>
                <a:ea typeface="Courier New"/>
                <a:cs typeface="Courier New"/>
                <a:sym typeface="Courier New"/>
              </a:rPr>
              <a:t>install.packages(“tidyverse")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a" dirty="0"/>
              <a:t>Load packages (do for all packages):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a" dirty="0">
                <a:latin typeface="Courier New"/>
                <a:ea typeface="Courier New"/>
                <a:cs typeface="Courier New"/>
                <a:sym typeface="Courier New"/>
              </a:rPr>
              <a:t>library("ampvis2")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dirty="0">
                <a:latin typeface="Courier New"/>
                <a:ea typeface="Courier New"/>
                <a:cs typeface="Courier New"/>
                <a:sym typeface="Courier New"/>
              </a:rPr>
              <a:t>library(" tidyverse")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" name="Google Shape;16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11</a:t>
            </a:fld>
            <a:endParaRPr/>
          </a:p>
        </p:txBody>
      </p:sp>
      <p:pic>
        <p:nvPicPr>
          <p:cNvPr id="164" name="Google Shape;16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831425"/>
            <a:ext cx="3141325" cy="31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>
            <a:spLocks noGrp="1"/>
          </p:cNvSpPr>
          <p:nvPr>
            <p:ph type="title"/>
          </p:nvPr>
        </p:nvSpPr>
        <p:spPr>
          <a:xfrm>
            <a:off x="311700" y="574075"/>
            <a:ext cx="4260300" cy="121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" sz="2500" b="1" dirty="0">
                <a:solidFill>
                  <a:srgbClr val="241858"/>
                </a:solidFill>
              </a:rPr>
              <a:t>Typical amplicon analysis workflow in ampvis2</a:t>
            </a:r>
            <a:endParaRPr sz="2500" b="1" dirty="0">
              <a:solidFill>
                <a:srgbClr val="241858"/>
              </a:solidFill>
            </a:endParaRPr>
          </a:p>
        </p:txBody>
      </p:sp>
      <p:pic>
        <p:nvPicPr>
          <p:cNvPr id="180" name="Google Shape;18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5097" y="296200"/>
            <a:ext cx="3931853" cy="455112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12</a:t>
            </a:fld>
            <a:endParaRPr/>
          </a:p>
        </p:txBody>
      </p:sp>
      <p:pic>
        <p:nvPicPr>
          <p:cNvPr id="182" name="Google Shape;18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831425"/>
            <a:ext cx="3141325" cy="31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309</Words>
  <Application>Microsoft Office PowerPoint</Application>
  <PresentationFormat>On-screen Show (16:9)</PresentationFormat>
  <Paragraphs>62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Simple Light</vt:lpstr>
      <vt:lpstr>PowerPoint Presentation</vt:lpstr>
      <vt:lpstr>Aim of the hands-on</vt:lpstr>
      <vt:lpstr>PowerPoint Presentation</vt:lpstr>
      <vt:lpstr>Structure of the hands-on</vt:lpstr>
      <vt:lpstr>Install R and Rstudio </vt:lpstr>
      <vt:lpstr>Install ampvis2 in Rstudio</vt:lpstr>
      <vt:lpstr>Data for the hands-on</vt:lpstr>
      <vt:lpstr>Find and download data</vt:lpstr>
      <vt:lpstr>Find and download data</vt:lpstr>
      <vt:lpstr>Find and download data</vt:lpstr>
      <vt:lpstr>Install ampvis2 (https://kasperskytte.github.io/ampvis2/articles/ampvis2.html) </vt:lpstr>
      <vt:lpstr>Typical amplicon analysis workflow in ampvis2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Miriam Peces Gomez</cp:lastModifiedBy>
  <cp:revision>13</cp:revision>
  <dcterms:modified xsi:type="dcterms:W3CDTF">2025-06-01T10:16:31Z</dcterms:modified>
</cp:coreProperties>
</file>