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75" r:id="rId3"/>
    <p:sldId id="277" r:id="rId4"/>
    <p:sldId id="276" r:id="rId5"/>
    <p:sldId id="270" r:id="rId6"/>
    <p:sldId id="258" r:id="rId7"/>
    <p:sldId id="271" r:id="rId8"/>
    <p:sldId id="272" r:id="rId9"/>
    <p:sldId id="273" r:id="rId10"/>
    <p:sldId id="274" r:id="rId11"/>
    <p:sldId id="265" r:id="rId12"/>
    <p:sldId id="266" r:id="rId13"/>
    <p:sldId id="267" r:id="rId14"/>
    <p:sldId id="269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DC94"/>
    <a:srgbClr val="004800"/>
    <a:srgbClr val="008000"/>
    <a:srgbClr val="2418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9E34A19-C1E3-CE44-8A52-7DA0BDA7345C}" v="6" dt="2025-05-27T10:57:58.4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52"/>
    <p:restoredTop sz="94750"/>
  </p:normalViewPr>
  <p:slideViewPr>
    <p:cSldViewPr snapToGrid="0">
      <p:cViewPr varScale="1">
        <p:scale>
          <a:sx n="172" d="100"/>
          <a:sy n="172" d="100"/>
        </p:scale>
        <p:origin x="752" y="1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fie Zacho Vestergaard" userId="98cda3d9-cbd0-4be8-a3d5-a0c3b4e8769f" providerId="ADAL" clId="{D9E34A19-C1E3-CE44-8A52-7DA0BDA7345C}"/>
    <pc:docChg chg="custSel addSld modSld">
      <pc:chgData name="Sofie Zacho Vestergaard" userId="98cda3d9-cbd0-4be8-a3d5-a0c3b4e8769f" providerId="ADAL" clId="{D9E34A19-C1E3-CE44-8A52-7DA0BDA7345C}" dt="2025-05-27T11:02:33.054" v="110" actId="1076"/>
      <pc:docMkLst>
        <pc:docMk/>
      </pc:docMkLst>
      <pc:sldChg chg="modSp mod">
        <pc:chgData name="Sofie Zacho Vestergaard" userId="98cda3d9-cbd0-4be8-a3d5-a0c3b4e8769f" providerId="ADAL" clId="{D9E34A19-C1E3-CE44-8A52-7DA0BDA7345C}" dt="2025-05-27T11:02:33.054" v="110" actId="1076"/>
        <pc:sldMkLst>
          <pc:docMk/>
          <pc:sldMk cId="0" sldId="266"/>
        </pc:sldMkLst>
        <pc:spChg chg="mod">
          <ac:chgData name="Sofie Zacho Vestergaard" userId="98cda3d9-cbd0-4be8-a3d5-a0c3b4e8769f" providerId="ADAL" clId="{D9E34A19-C1E3-CE44-8A52-7DA0BDA7345C}" dt="2025-05-27T11:02:24.569" v="109" actId="20577"/>
          <ac:spMkLst>
            <pc:docMk/>
            <pc:sldMk cId="0" sldId="266"/>
            <ac:spMk id="170" creationId="{00000000-0000-0000-0000-000000000000}"/>
          </ac:spMkLst>
        </pc:spChg>
        <pc:spChg chg="mod">
          <ac:chgData name="Sofie Zacho Vestergaard" userId="98cda3d9-cbd0-4be8-a3d5-a0c3b4e8769f" providerId="ADAL" clId="{D9E34A19-C1E3-CE44-8A52-7DA0BDA7345C}" dt="2025-05-27T11:02:33.054" v="110" actId="1076"/>
          <ac:spMkLst>
            <pc:docMk/>
            <pc:sldMk cId="0" sldId="266"/>
            <ac:spMk id="172" creationId="{00000000-0000-0000-0000-000000000000}"/>
          </ac:spMkLst>
        </pc:spChg>
        <pc:picChg chg="mod">
          <ac:chgData name="Sofie Zacho Vestergaard" userId="98cda3d9-cbd0-4be8-a3d5-a0c3b4e8769f" providerId="ADAL" clId="{D9E34A19-C1E3-CE44-8A52-7DA0BDA7345C}" dt="2025-05-27T10:54:53.043" v="6" actId="1076"/>
          <ac:picMkLst>
            <pc:docMk/>
            <pc:sldMk cId="0" sldId="266"/>
            <ac:picMk id="171" creationId="{00000000-0000-0000-0000-000000000000}"/>
          </ac:picMkLst>
        </pc:picChg>
      </pc:sldChg>
      <pc:sldChg chg="mod modShow">
        <pc:chgData name="Sofie Zacho Vestergaard" userId="98cda3d9-cbd0-4be8-a3d5-a0c3b4e8769f" providerId="ADAL" clId="{D9E34A19-C1E3-CE44-8A52-7DA0BDA7345C}" dt="2025-05-27T10:57:56.227" v="31" actId="729"/>
        <pc:sldMkLst>
          <pc:docMk/>
          <pc:sldMk cId="2882343659" sldId="275"/>
        </pc:sldMkLst>
      </pc:sldChg>
      <pc:sldChg chg="modSp mod">
        <pc:chgData name="Sofie Zacho Vestergaard" userId="98cda3d9-cbd0-4be8-a3d5-a0c3b4e8769f" providerId="ADAL" clId="{D9E34A19-C1E3-CE44-8A52-7DA0BDA7345C}" dt="2025-05-27T11:01:40.052" v="106" actId="20577"/>
        <pc:sldMkLst>
          <pc:docMk/>
          <pc:sldMk cId="3089639947" sldId="276"/>
        </pc:sldMkLst>
        <pc:spChg chg="mod">
          <ac:chgData name="Sofie Zacho Vestergaard" userId="98cda3d9-cbd0-4be8-a3d5-a0c3b4e8769f" providerId="ADAL" clId="{D9E34A19-C1E3-CE44-8A52-7DA0BDA7345C}" dt="2025-05-27T11:01:40.052" v="106" actId="20577"/>
          <ac:spMkLst>
            <pc:docMk/>
            <pc:sldMk cId="3089639947" sldId="276"/>
            <ac:spMk id="28" creationId="{EED05785-82D3-AB26-B909-9CFA85107AD6}"/>
          </ac:spMkLst>
        </pc:spChg>
      </pc:sldChg>
      <pc:sldChg chg="delSp modSp add mod modShow">
        <pc:chgData name="Sofie Zacho Vestergaard" userId="98cda3d9-cbd0-4be8-a3d5-a0c3b4e8769f" providerId="ADAL" clId="{D9E34A19-C1E3-CE44-8A52-7DA0BDA7345C}" dt="2025-05-27T11:00:05.428" v="52" actId="729"/>
        <pc:sldMkLst>
          <pc:docMk/>
          <pc:sldMk cId="3654025536" sldId="277"/>
        </pc:sldMkLst>
        <pc:spChg chg="del">
          <ac:chgData name="Sofie Zacho Vestergaard" userId="98cda3d9-cbd0-4be8-a3d5-a0c3b4e8769f" providerId="ADAL" clId="{D9E34A19-C1E3-CE44-8A52-7DA0BDA7345C}" dt="2025-05-27T10:59:19.286" v="35" actId="478"/>
          <ac:spMkLst>
            <pc:docMk/>
            <pc:sldMk cId="3654025536" sldId="277"/>
            <ac:spMk id="11" creationId="{224C162E-A0D7-4336-D3CE-D23E6A12F805}"/>
          </ac:spMkLst>
        </pc:spChg>
        <pc:spChg chg="del">
          <ac:chgData name="Sofie Zacho Vestergaard" userId="98cda3d9-cbd0-4be8-a3d5-a0c3b4e8769f" providerId="ADAL" clId="{D9E34A19-C1E3-CE44-8A52-7DA0BDA7345C}" dt="2025-05-27T10:59:23.277" v="36" actId="478"/>
          <ac:spMkLst>
            <pc:docMk/>
            <pc:sldMk cId="3654025536" sldId="277"/>
            <ac:spMk id="12" creationId="{05BB8FE1-D114-6558-27BE-674287DE4EBE}"/>
          </ac:spMkLst>
        </pc:spChg>
        <pc:spChg chg="del">
          <ac:chgData name="Sofie Zacho Vestergaard" userId="98cda3d9-cbd0-4be8-a3d5-a0c3b4e8769f" providerId="ADAL" clId="{D9E34A19-C1E3-CE44-8A52-7DA0BDA7345C}" dt="2025-05-27T10:59:25.961" v="37" actId="478"/>
          <ac:spMkLst>
            <pc:docMk/>
            <pc:sldMk cId="3654025536" sldId="277"/>
            <ac:spMk id="13" creationId="{C5FA0941-A0FE-C244-BD0B-3A391F20DDAD}"/>
          </ac:spMkLst>
        </pc:spChg>
        <pc:spChg chg="del">
          <ac:chgData name="Sofie Zacho Vestergaard" userId="98cda3d9-cbd0-4be8-a3d5-a0c3b4e8769f" providerId="ADAL" clId="{D9E34A19-C1E3-CE44-8A52-7DA0BDA7345C}" dt="2025-05-27T10:58:15.381" v="34" actId="478"/>
          <ac:spMkLst>
            <pc:docMk/>
            <pc:sldMk cId="3654025536" sldId="277"/>
            <ac:spMk id="16" creationId="{FC34F468-3F28-0F98-817D-CC1A0676AA5A}"/>
          </ac:spMkLst>
        </pc:spChg>
        <pc:spChg chg="mod">
          <ac:chgData name="Sofie Zacho Vestergaard" userId="98cda3d9-cbd0-4be8-a3d5-a0c3b4e8769f" providerId="ADAL" clId="{D9E34A19-C1E3-CE44-8A52-7DA0BDA7345C}" dt="2025-05-27T10:59:36.549" v="39" actId="1076"/>
          <ac:spMkLst>
            <pc:docMk/>
            <pc:sldMk cId="3654025536" sldId="277"/>
            <ac:spMk id="17" creationId="{311B9E1B-B330-0EEC-E02D-B83E079EFA15}"/>
          </ac:spMkLst>
        </pc:spChg>
        <pc:spChg chg="mod">
          <ac:chgData name="Sofie Zacho Vestergaard" userId="98cda3d9-cbd0-4be8-a3d5-a0c3b4e8769f" providerId="ADAL" clId="{D9E34A19-C1E3-CE44-8A52-7DA0BDA7345C}" dt="2025-05-27T11:00:00.357" v="51" actId="207"/>
          <ac:spMkLst>
            <pc:docMk/>
            <pc:sldMk cId="3654025536" sldId="277"/>
            <ac:spMk id="36" creationId="{322FA59A-4E87-C575-F3AB-458AE409EF35}"/>
          </ac:spMkLst>
        </pc:spChg>
        <pc:grpChg chg="mod">
          <ac:chgData name="Sofie Zacho Vestergaard" userId="98cda3d9-cbd0-4be8-a3d5-a0c3b4e8769f" providerId="ADAL" clId="{D9E34A19-C1E3-CE44-8A52-7DA0BDA7345C}" dt="2025-05-27T10:59:45.339" v="41" actId="14100"/>
          <ac:grpSpMkLst>
            <pc:docMk/>
            <pc:sldMk cId="3654025536" sldId="277"/>
            <ac:grpSpMk id="38" creationId="{C7758FB0-DAE6-6797-73D4-557682200C56}"/>
          </ac:grpSpMkLst>
        </pc:grpChg>
        <pc:cxnChg chg="mod">
          <ac:chgData name="Sofie Zacho Vestergaard" userId="98cda3d9-cbd0-4be8-a3d5-a0c3b4e8769f" providerId="ADAL" clId="{D9E34A19-C1E3-CE44-8A52-7DA0BDA7345C}" dt="2025-05-27T10:59:36.549" v="39" actId="1076"/>
          <ac:cxnSpMkLst>
            <pc:docMk/>
            <pc:sldMk cId="3654025536" sldId="277"/>
            <ac:cxnSpMk id="29" creationId="{D146FEB0-840D-AA9E-B538-B01A4271A448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D37CDCC1-4826-E38C-5D9D-EC3CBB456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f2eef35f0_0_0:notes">
            <a:extLst>
              <a:ext uri="{FF2B5EF4-FFF2-40B4-BE49-F238E27FC236}">
                <a16:creationId xmlns:a16="http://schemas.microsoft.com/office/drawing/2014/main" id="{F15377F6-A1B6-2D64-4B21-1F3C71BC47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f2eef35f0_0_0:notes">
            <a:extLst>
              <a:ext uri="{FF2B5EF4-FFF2-40B4-BE49-F238E27FC236}">
                <a16:creationId xmlns:a16="http://schemas.microsoft.com/office/drawing/2014/main" id="{50732172-55F2-BCEE-3060-F3D9D82BDD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9798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CA122A9C-EBE8-7293-1608-4B6348B50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f2eef35f0_0_0:notes">
            <a:extLst>
              <a:ext uri="{FF2B5EF4-FFF2-40B4-BE49-F238E27FC236}">
                <a16:creationId xmlns:a16="http://schemas.microsoft.com/office/drawing/2014/main" id="{35BA766D-68CE-524F-692E-349E5D618B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f2eef35f0_0_0:notes">
            <a:extLst>
              <a:ext uri="{FF2B5EF4-FFF2-40B4-BE49-F238E27FC236}">
                <a16:creationId xmlns:a16="http://schemas.microsoft.com/office/drawing/2014/main" id="{C63A183C-2C22-2801-F679-D21EFADFCE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48936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CCE01E6F-EC36-7E79-2897-9AA515C9C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f2eef35f0_0_0:notes">
            <a:extLst>
              <a:ext uri="{FF2B5EF4-FFF2-40B4-BE49-F238E27FC236}">
                <a16:creationId xmlns:a16="http://schemas.microsoft.com/office/drawing/2014/main" id="{3CFF38AA-3553-3ADF-6770-940E996DE0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f2eef35f0_0_0:notes">
            <a:extLst>
              <a:ext uri="{FF2B5EF4-FFF2-40B4-BE49-F238E27FC236}">
                <a16:creationId xmlns:a16="http://schemas.microsoft.com/office/drawing/2014/main" id="{DA6646AE-D1CE-4507-67D1-D5E64C62FB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33968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ECF63913-77FC-872C-669B-1893034FD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f2eef35f0_0_0:notes">
            <a:extLst>
              <a:ext uri="{FF2B5EF4-FFF2-40B4-BE49-F238E27FC236}">
                <a16:creationId xmlns:a16="http://schemas.microsoft.com/office/drawing/2014/main" id="{5AF0BAF4-A32C-A79C-C20D-D321E6A14C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f2eef35f0_0_0:notes">
            <a:extLst>
              <a:ext uri="{FF2B5EF4-FFF2-40B4-BE49-F238E27FC236}">
                <a16:creationId xmlns:a16="http://schemas.microsoft.com/office/drawing/2014/main" id="{F042E714-2F8F-2F77-78C4-DE6B82F9C3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99295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623B92AB-E68C-2E02-713A-3AF4BC1BA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ADCD8A42-96B6-A49A-895A-CB95B8654A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6CEA95FE-D236-A27B-52B5-AC3E6A1F98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062261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C64D4437-709E-1F30-7A91-E1D1301E2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E442871E-49D1-64CB-E84B-F58A307C54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214BFABC-ECFE-86CC-C80A-B0B973ED37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21797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8A155FC6-7CDE-7F9C-AF4F-C98967DAB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48677562-359C-23D1-CF36-C4A4D9B63D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39798571-7D88-03A3-9EBB-C94FC28B1A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41600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63928124-736E-51D6-1C11-2CD13C324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8A0F9320-FC8A-E6E1-7D2B-6BCD61C863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440B00D2-16AF-60A7-73AB-58EF8A1E58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294847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df2eef35f0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2df2eef35f0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2df26ad5a7e_0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2df26ad5a7e_0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df2eef35f0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2df2eef35f0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df2eef35f0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2df2eef35f0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irrors.dotsrc.org/cran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geeksforgeeks.org/how-to-install-r-studio-on-windows-and-linux/" TargetMode="External"/><Relationship Id="rId5" Type="http://schemas.openxmlformats.org/officeDocument/2006/relationships/image" Target="../media/image4.png"/><Relationship Id="rId4" Type="http://schemas.openxmlformats.org/officeDocument/2006/relationships/hyperlink" Target="https://posit.co/download/rstudio-desktop/#download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asperSkytte/ampvis2" TargetMode="External"/><Relationship Id="rId7" Type="http://schemas.openxmlformats.org/officeDocument/2006/relationships/hyperlink" Target="https://tidyverse.tidyverse.org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hyperlink" Target="https://github.com/mpeces/MiDAS_course_2025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hyperlink" Target="https://github.com/mpeces/MiDAS_course_2025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hyperlink" Target="https://github.com/mpeces/MiDAS_course_2025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kasperskytte.github.io/ampvis2/articles/ampvis2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311700" y="3161073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b="1" dirty="0"/>
              <a:t>MiDAS course 2025</a:t>
            </a:r>
            <a:endParaRPr b="1" dirty="0"/>
          </a:p>
        </p:txBody>
      </p:sp>
      <p:pic>
        <p:nvPicPr>
          <p:cNvPr id="57" name="Google Shape;57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49961" y="47090"/>
            <a:ext cx="2637504" cy="927258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79079" y="3689558"/>
            <a:ext cx="3185842" cy="14539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0D5C033-AE10-A071-48AB-66CC39DC58DE}"/>
              </a:ext>
            </a:extLst>
          </p:cNvPr>
          <p:cNvSpPr txBox="1"/>
          <p:nvPr/>
        </p:nvSpPr>
        <p:spPr>
          <a:xfrm>
            <a:off x="0" y="877743"/>
            <a:ext cx="91440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" sz="4800" b="1" dirty="0">
                <a:solidFill>
                  <a:srgbClr val="261659"/>
                </a:solidFill>
              </a:rPr>
              <a:t>Hands-on: </a:t>
            </a:r>
          </a:p>
          <a:p>
            <a:pPr algn="ctr"/>
            <a:r>
              <a:rPr lang="da" sz="4000" b="1" dirty="0">
                <a:solidFill>
                  <a:srgbClr val="261659"/>
                </a:solidFill>
              </a:rPr>
              <a:t>Microbial community analysis using the ampvis2 package 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062C8F1D-44B6-A02F-7B61-A49B8AC17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4">
            <a:extLst>
              <a:ext uri="{FF2B5EF4-FFF2-40B4-BE49-F238E27FC236}">
                <a16:creationId xmlns:a16="http://schemas.microsoft.com/office/drawing/2014/main" id="{BDD5397D-2E6C-F682-A54F-C9AA1579256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8474F1B-7D9B-36C4-D1FE-99904628D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897" y="326679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241858"/>
                </a:solidFill>
              </a:rPr>
              <a:t>Aim of the hands-on</a:t>
            </a:r>
            <a:endParaRPr lang="en-US" b="1" dirty="0">
              <a:solidFill>
                <a:srgbClr val="241858"/>
              </a:solidFill>
            </a:endParaRPr>
          </a:p>
        </p:txBody>
      </p:sp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1B880F3D-8CD0-6DEC-F840-261CD162B77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65689" y="47090"/>
            <a:ext cx="921775" cy="32406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79E8EA-6F45-62A9-5400-5FDB1F82DE6D}"/>
              </a:ext>
            </a:extLst>
          </p:cNvPr>
          <p:cNvSpPr txBox="1"/>
          <p:nvPr/>
        </p:nvSpPr>
        <p:spPr>
          <a:xfrm>
            <a:off x="256897" y="1170466"/>
            <a:ext cx="8470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hands-on experience in microbial community analysis using R, with a focus on the ampvis2 package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E9AFAE5-2016-0B38-939E-0FBDE7AFA13C}"/>
              </a:ext>
            </a:extLst>
          </p:cNvPr>
          <p:cNvGrpSpPr/>
          <p:nvPr/>
        </p:nvGrpSpPr>
        <p:grpSpPr>
          <a:xfrm>
            <a:off x="334076" y="2976100"/>
            <a:ext cx="8473169" cy="1179255"/>
            <a:chOff x="334076" y="2902360"/>
            <a:chExt cx="8473169" cy="1179255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D4B1072D-9AFA-FA95-8D7D-2B137DC6D0F1}"/>
                </a:ext>
              </a:extLst>
            </p:cNvPr>
            <p:cNvSpPr/>
            <p:nvPr/>
          </p:nvSpPr>
          <p:spPr>
            <a:xfrm>
              <a:off x="334076" y="2902360"/>
              <a:ext cx="1080290" cy="572700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Raw sequences</a:t>
              </a:r>
              <a:endParaRPr lang="en-US" sz="1200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FE68E8B4-0DB3-F547-726B-82D770B627B4}"/>
                </a:ext>
              </a:extLst>
            </p:cNvPr>
            <p:cNvSpPr/>
            <p:nvPr/>
          </p:nvSpPr>
          <p:spPr>
            <a:xfrm>
              <a:off x="1672441" y="2902360"/>
              <a:ext cx="1080290" cy="572700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ASV table</a:t>
              </a:r>
              <a:endParaRPr lang="en-US" sz="1200" dirty="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47DE4B60-9104-1CFD-9AF7-2888D72EF8F3}"/>
                </a:ext>
              </a:extLst>
            </p:cNvPr>
            <p:cNvSpPr/>
            <p:nvPr/>
          </p:nvSpPr>
          <p:spPr>
            <a:xfrm>
              <a:off x="3136271" y="3000680"/>
              <a:ext cx="637838" cy="5727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QC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44A84FB-508A-D00B-16F0-A475DFD8B7C5}"/>
                </a:ext>
              </a:extLst>
            </p:cNvPr>
            <p:cNvSpPr/>
            <p:nvPr/>
          </p:nvSpPr>
          <p:spPr>
            <a:xfrm>
              <a:off x="4105082" y="3508915"/>
              <a:ext cx="863898" cy="572700"/>
            </a:xfrm>
            <a:prstGeom prst="roundRect">
              <a:avLst/>
            </a:prstGeom>
            <a:solidFill>
              <a:srgbClr val="A9DC94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Alpha diversity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B07C351-3658-473F-E364-B415BDFF306E}"/>
                </a:ext>
              </a:extLst>
            </p:cNvPr>
            <p:cNvSpPr/>
            <p:nvPr/>
          </p:nvSpPr>
          <p:spPr>
            <a:xfrm>
              <a:off x="5222302" y="3498438"/>
              <a:ext cx="801207" cy="572700"/>
            </a:xfrm>
            <a:prstGeom prst="roundRect">
              <a:avLst/>
            </a:prstGeom>
            <a:solidFill>
              <a:srgbClr val="A9DC94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Beta diversity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C93BE76-A7A9-C6C0-E783-ED911D6AC026}"/>
                </a:ext>
              </a:extLst>
            </p:cNvPr>
            <p:cNvSpPr/>
            <p:nvPr/>
          </p:nvSpPr>
          <p:spPr>
            <a:xfrm>
              <a:off x="6276831" y="3498438"/>
              <a:ext cx="1080290" cy="572700"/>
            </a:xfrm>
            <a:prstGeom prst="roundRect">
              <a:avLst/>
            </a:prstGeom>
            <a:solidFill>
              <a:srgbClr val="A9DC94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Microbial composition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52733565-334E-6B4D-6529-A12C3748818E}"/>
                </a:ext>
              </a:extLst>
            </p:cNvPr>
            <p:cNvSpPr/>
            <p:nvPr/>
          </p:nvSpPr>
          <p:spPr>
            <a:xfrm>
              <a:off x="7596285" y="3498438"/>
              <a:ext cx="1181212" cy="572700"/>
            </a:xfrm>
            <a:prstGeom prst="roundRect">
              <a:avLst/>
            </a:prstGeom>
            <a:solidFill>
              <a:srgbClr val="A9DC94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Core communities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757846E3-F9B0-649B-EC56-596BA33CA94E}"/>
                </a:ext>
              </a:extLst>
            </p:cNvPr>
            <p:cNvSpPr/>
            <p:nvPr/>
          </p:nvSpPr>
          <p:spPr>
            <a:xfrm>
              <a:off x="4105083" y="3181992"/>
              <a:ext cx="4702162" cy="207092"/>
            </a:xfrm>
            <a:prstGeom prst="roundRect">
              <a:avLst>
                <a:gd name="adj" fmla="val 23788"/>
              </a:avLst>
            </a:prstGeom>
            <a:solidFill>
              <a:srgbClr val="008000"/>
            </a:solidFill>
            <a:ln w="19050">
              <a:solidFill>
                <a:srgbClr val="0048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bg1"/>
                  </a:solidFill>
                </a:rPr>
                <a:t>Data exploration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B86931B3-1CBC-4622-4061-D33B797619FF}"/>
                </a:ext>
              </a:extLst>
            </p:cNvPr>
            <p:cNvSpPr/>
            <p:nvPr/>
          </p:nvSpPr>
          <p:spPr>
            <a:xfrm>
              <a:off x="1672441" y="3644080"/>
              <a:ext cx="1080290" cy="358234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metadata</a:t>
              </a:r>
              <a:endParaRPr lang="en-US" sz="12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882CD5ED-FBCA-5C19-6F0E-B7F216494170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1414366" y="3188710"/>
              <a:ext cx="258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D0BB6273-7EB8-29E3-F4C0-1FD1135894FE}"/>
                </a:ext>
              </a:extLst>
            </p:cNvPr>
            <p:cNvCxnSpPr>
              <a:stCxn id="9" idx="3"/>
              <a:endCxn id="10" idx="1"/>
            </p:cNvCxnSpPr>
            <p:nvPr/>
          </p:nvCxnSpPr>
          <p:spPr>
            <a:xfrm>
              <a:off x="2752731" y="3188710"/>
              <a:ext cx="383540" cy="98320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A6E2F0AF-B3F9-13AC-6363-464C0BF036C9}"/>
                </a:ext>
              </a:extLst>
            </p:cNvPr>
            <p:cNvCxnSpPr>
              <a:cxnSpLocks/>
              <a:stCxn id="20" idx="3"/>
              <a:endCxn id="10" idx="1"/>
            </p:cNvCxnSpPr>
            <p:nvPr/>
          </p:nvCxnSpPr>
          <p:spPr>
            <a:xfrm flipV="1">
              <a:off x="2752731" y="3287030"/>
              <a:ext cx="383540" cy="536167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F84E3615-AA28-5F37-3A56-C8ADD35B741E}"/>
                </a:ext>
              </a:extLst>
            </p:cNvPr>
            <p:cNvCxnSpPr>
              <a:cxnSpLocks/>
              <a:stCxn id="10" idx="3"/>
              <a:endCxn id="17" idx="1"/>
            </p:cNvCxnSpPr>
            <p:nvPr/>
          </p:nvCxnSpPr>
          <p:spPr>
            <a:xfrm flipV="1">
              <a:off x="3774109" y="3285538"/>
              <a:ext cx="330974" cy="14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853FB956-C271-6EA6-B19C-AADA7F5F270F}"/>
              </a:ext>
            </a:extLst>
          </p:cNvPr>
          <p:cNvSpPr txBox="1"/>
          <p:nvPr/>
        </p:nvSpPr>
        <p:spPr>
          <a:xfrm>
            <a:off x="256897" y="2122063"/>
            <a:ext cx="8470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of typical workflow: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2C80F32-8BFA-6B9C-6F1A-FFEFF48AEAB8}"/>
              </a:ext>
            </a:extLst>
          </p:cNvPr>
          <p:cNvGrpSpPr/>
          <p:nvPr/>
        </p:nvGrpSpPr>
        <p:grpSpPr>
          <a:xfrm>
            <a:off x="2423652" y="2566725"/>
            <a:ext cx="6508954" cy="2113429"/>
            <a:chOff x="2423652" y="2566725"/>
            <a:chExt cx="6508954" cy="2113429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9B9C475-A85F-03BE-A456-13735469BE23}"/>
                </a:ext>
              </a:extLst>
            </p:cNvPr>
            <p:cNvSpPr/>
            <p:nvPr/>
          </p:nvSpPr>
          <p:spPr>
            <a:xfrm>
              <a:off x="2423652" y="2571750"/>
              <a:ext cx="6508954" cy="2108404"/>
            </a:xfrm>
            <a:prstGeom prst="rect">
              <a:avLst/>
            </a:prstGeom>
            <a:solidFill>
              <a:srgbClr val="A9DC94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D31E954-34FC-4695-478B-A44F85CF6E6B}"/>
                </a:ext>
              </a:extLst>
            </p:cNvPr>
            <p:cNvSpPr txBox="1"/>
            <p:nvPr/>
          </p:nvSpPr>
          <p:spPr>
            <a:xfrm>
              <a:off x="7913078" y="2566725"/>
              <a:ext cx="9596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Hands-on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82343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C7892EF2-CE13-E6CC-BE9D-A0B1FBE03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4">
            <a:extLst>
              <a:ext uri="{FF2B5EF4-FFF2-40B4-BE49-F238E27FC236}">
                <a16:creationId xmlns:a16="http://schemas.microsoft.com/office/drawing/2014/main" id="{40427C1B-ED6F-2834-B793-41CA6B46604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8703360-50D7-4D40-939E-45C6411F7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897" y="326679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241858"/>
                </a:solidFill>
              </a:rPr>
              <a:t>Aim of the hands-on</a:t>
            </a:r>
            <a:endParaRPr lang="en-US" b="1" dirty="0">
              <a:solidFill>
                <a:srgbClr val="241858"/>
              </a:solidFill>
            </a:endParaRPr>
          </a:p>
        </p:txBody>
      </p:sp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7FC8D62B-D621-3864-28C9-5005CAEF944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65689" y="47090"/>
            <a:ext cx="921775" cy="32406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031A674-BDA2-6976-FE21-79C8C8521880}"/>
              </a:ext>
            </a:extLst>
          </p:cNvPr>
          <p:cNvSpPr txBox="1"/>
          <p:nvPr/>
        </p:nvSpPr>
        <p:spPr>
          <a:xfrm>
            <a:off x="256897" y="1170466"/>
            <a:ext cx="8470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hands-on experience in microbial community analysis using R, with a focus on the ampvis2 package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1C5BB8F-0B30-F4CB-E37B-47C22F55A301}"/>
              </a:ext>
            </a:extLst>
          </p:cNvPr>
          <p:cNvGrpSpPr/>
          <p:nvPr/>
        </p:nvGrpSpPr>
        <p:grpSpPr>
          <a:xfrm>
            <a:off x="334076" y="2976100"/>
            <a:ext cx="8459182" cy="1099954"/>
            <a:chOff x="334076" y="2902360"/>
            <a:chExt cx="8459182" cy="1099954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567B97CC-9B52-6576-F8E3-79281596FB5D}"/>
                </a:ext>
              </a:extLst>
            </p:cNvPr>
            <p:cNvSpPr/>
            <p:nvPr/>
          </p:nvSpPr>
          <p:spPr>
            <a:xfrm>
              <a:off x="334076" y="2902360"/>
              <a:ext cx="1080290" cy="572700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Raw sequences</a:t>
              </a:r>
              <a:endParaRPr lang="en-US" sz="1200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3A2CCF37-0A67-0E84-EBEC-0EC69C76B639}"/>
                </a:ext>
              </a:extLst>
            </p:cNvPr>
            <p:cNvSpPr/>
            <p:nvPr/>
          </p:nvSpPr>
          <p:spPr>
            <a:xfrm>
              <a:off x="1672441" y="2902360"/>
              <a:ext cx="1080290" cy="572700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ASV table</a:t>
              </a:r>
              <a:endParaRPr lang="en-US" sz="1200" dirty="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642EC11-B35A-6B89-E529-1BDD31C5A95B}"/>
                </a:ext>
              </a:extLst>
            </p:cNvPr>
            <p:cNvSpPr/>
            <p:nvPr/>
          </p:nvSpPr>
          <p:spPr>
            <a:xfrm>
              <a:off x="3136271" y="3000680"/>
              <a:ext cx="637838" cy="5727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QC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311B9E1B-B330-0EEC-E02D-B83E079EFA15}"/>
                </a:ext>
              </a:extLst>
            </p:cNvPr>
            <p:cNvSpPr/>
            <p:nvPr/>
          </p:nvSpPr>
          <p:spPr>
            <a:xfrm>
              <a:off x="4091096" y="2926778"/>
              <a:ext cx="4702162" cy="717302"/>
            </a:xfrm>
            <a:prstGeom prst="roundRect">
              <a:avLst>
                <a:gd name="adj" fmla="val 23788"/>
              </a:avLst>
            </a:prstGeom>
            <a:solidFill>
              <a:srgbClr val="008000"/>
            </a:solidFill>
            <a:ln w="19050">
              <a:solidFill>
                <a:srgbClr val="0048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bg1"/>
                  </a:solidFill>
                </a:rPr>
                <a:t>Data exploration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475B05C3-7232-57FB-C509-D7EEEE37DD4E}"/>
                </a:ext>
              </a:extLst>
            </p:cNvPr>
            <p:cNvSpPr/>
            <p:nvPr/>
          </p:nvSpPr>
          <p:spPr>
            <a:xfrm>
              <a:off x="1672441" y="3644080"/>
              <a:ext cx="1080290" cy="358234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metadata</a:t>
              </a:r>
              <a:endParaRPr lang="en-US" sz="12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2A677FC-D499-A471-EFA1-AE74C3A4FCD6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1414366" y="3188710"/>
              <a:ext cx="258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EE0CBEAA-EC07-19F5-15FF-6715E1AD975A}"/>
                </a:ext>
              </a:extLst>
            </p:cNvPr>
            <p:cNvCxnSpPr>
              <a:stCxn id="9" idx="3"/>
              <a:endCxn id="10" idx="1"/>
            </p:cNvCxnSpPr>
            <p:nvPr/>
          </p:nvCxnSpPr>
          <p:spPr>
            <a:xfrm>
              <a:off x="2752731" y="3188710"/>
              <a:ext cx="383540" cy="98320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4DBFCC4A-A8BC-54D2-75BE-CF4F8231A3CF}"/>
                </a:ext>
              </a:extLst>
            </p:cNvPr>
            <p:cNvCxnSpPr>
              <a:cxnSpLocks/>
              <a:stCxn id="20" idx="3"/>
              <a:endCxn id="10" idx="1"/>
            </p:cNvCxnSpPr>
            <p:nvPr/>
          </p:nvCxnSpPr>
          <p:spPr>
            <a:xfrm flipV="1">
              <a:off x="2752731" y="3287030"/>
              <a:ext cx="383540" cy="536167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146FEB0-840D-AA9E-B538-B01A4271A448}"/>
                </a:ext>
              </a:extLst>
            </p:cNvPr>
            <p:cNvCxnSpPr>
              <a:cxnSpLocks/>
              <a:stCxn id="10" idx="3"/>
              <a:endCxn id="17" idx="1"/>
            </p:cNvCxnSpPr>
            <p:nvPr/>
          </p:nvCxnSpPr>
          <p:spPr>
            <a:xfrm flipV="1">
              <a:off x="3774109" y="3285429"/>
              <a:ext cx="316987" cy="160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86D768BD-CFBC-539D-FB9B-0FC8B7957A6C}"/>
              </a:ext>
            </a:extLst>
          </p:cNvPr>
          <p:cNvSpPr txBox="1"/>
          <p:nvPr/>
        </p:nvSpPr>
        <p:spPr>
          <a:xfrm>
            <a:off x="256897" y="2122063"/>
            <a:ext cx="8470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of typical workflow: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7758FB0-DAE6-6797-73D4-557682200C56}"/>
              </a:ext>
            </a:extLst>
          </p:cNvPr>
          <p:cNvGrpSpPr/>
          <p:nvPr/>
        </p:nvGrpSpPr>
        <p:grpSpPr>
          <a:xfrm>
            <a:off x="2838616" y="2429840"/>
            <a:ext cx="6248848" cy="2115712"/>
            <a:chOff x="2423527" y="758790"/>
            <a:chExt cx="6508954" cy="2115712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22FA59A-4E87-C575-F3AB-458AE409EF35}"/>
                </a:ext>
              </a:extLst>
            </p:cNvPr>
            <p:cNvSpPr/>
            <p:nvPr/>
          </p:nvSpPr>
          <p:spPr>
            <a:xfrm>
              <a:off x="2423527" y="758790"/>
              <a:ext cx="6508954" cy="2108404"/>
            </a:xfrm>
            <a:prstGeom prst="rect">
              <a:avLst/>
            </a:prstGeom>
            <a:solidFill>
              <a:srgbClr val="A9DC94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EA33336-1A76-50A8-5BB5-7056511D3FFC}"/>
                </a:ext>
              </a:extLst>
            </p:cNvPr>
            <p:cNvSpPr txBox="1"/>
            <p:nvPr/>
          </p:nvSpPr>
          <p:spPr>
            <a:xfrm>
              <a:off x="7913078" y="2566725"/>
              <a:ext cx="9596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Hands-on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54025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3313A9DB-11ED-49EC-2ACC-5062BF4A8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4">
            <a:extLst>
              <a:ext uri="{FF2B5EF4-FFF2-40B4-BE49-F238E27FC236}">
                <a16:creationId xmlns:a16="http://schemas.microsoft.com/office/drawing/2014/main" id="{A340F6F0-97C0-4FD3-FD96-AA81A395505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438BB117-52E7-5BB4-A50C-FDA46EFBCDC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65689" y="47090"/>
            <a:ext cx="921775" cy="32406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410375C-9EAC-78DA-8233-0F7E9FFCA7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704" y="994787"/>
            <a:ext cx="3248310" cy="364945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itle 2">
            <a:extLst>
              <a:ext uri="{FF2B5EF4-FFF2-40B4-BE49-F238E27FC236}">
                <a16:creationId xmlns:a16="http://schemas.microsoft.com/office/drawing/2014/main" id="{4BC76ED6-AA08-4127-E620-D0E6B5219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897" y="173003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241858"/>
                </a:solidFill>
              </a:rPr>
              <a:t>Data for the hands-on</a:t>
            </a:r>
            <a:endParaRPr lang="en-US" b="1" dirty="0">
              <a:solidFill>
                <a:srgbClr val="241858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D62B9CA-D1F7-1C94-50DC-E0DB1E43722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4368" b="41747"/>
          <a:stretch/>
        </p:blipFill>
        <p:spPr>
          <a:xfrm>
            <a:off x="4517197" y="687596"/>
            <a:ext cx="1969477" cy="1968959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8DE23D4-BD9D-9EF8-2206-242E78186893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541014" y="2376435"/>
            <a:ext cx="976183" cy="44308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A415D5E-2F20-ABE3-9F42-553DE0020A52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6486674" y="1672076"/>
            <a:ext cx="612486" cy="105605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ED05785-82D3-AB26-B909-9CFA85107AD6}"/>
              </a:ext>
            </a:extLst>
          </p:cNvPr>
          <p:cNvSpPr txBox="1"/>
          <p:nvPr/>
        </p:nvSpPr>
        <p:spPr>
          <a:xfrm>
            <a:off x="4854499" y="2849001"/>
            <a:ext cx="41715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4 WWTPs</a:t>
            </a:r>
            <a:r>
              <a:rPr lang="en-GB" dirty="0"/>
              <a:t>: </a:t>
            </a:r>
            <a:r>
              <a:rPr lang="en-GB" dirty="0" err="1"/>
              <a:t>Kalundborg</a:t>
            </a:r>
            <a:r>
              <a:rPr lang="en-GB" dirty="0"/>
              <a:t>, </a:t>
            </a:r>
            <a:r>
              <a:rPr lang="en-GB" dirty="0" err="1"/>
              <a:t>Lynetten</a:t>
            </a:r>
            <a:r>
              <a:rPr lang="en-GB" dirty="0"/>
              <a:t>, Randers, Ribe (</a:t>
            </a:r>
            <a:r>
              <a:rPr lang="en-GB" dirty="0" err="1"/>
              <a:t>SampleSite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141 samples</a:t>
            </a:r>
          </a:p>
          <a:p>
            <a:r>
              <a:rPr lang="en-GB" dirty="0"/>
              <a:t>January – December 2020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9639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3A4C2F34-C67C-30F5-D75B-70D84295C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>
            <a:extLst>
              <a:ext uri="{FF2B5EF4-FFF2-40B4-BE49-F238E27FC236}">
                <a16:creationId xmlns:a16="http://schemas.microsoft.com/office/drawing/2014/main" id="{A0CD04FB-DB10-6D7A-B7AB-62D894EBAE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66729" y="1140444"/>
            <a:ext cx="8520600" cy="2742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Install R and Rstudio (if not done)</a:t>
            </a:r>
            <a:endParaRPr dirty="0">
              <a:solidFill>
                <a:schemeClr val="tx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Install </a:t>
            </a:r>
            <a:r>
              <a:rPr lang="da" i="1" dirty="0">
                <a:solidFill>
                  <a:schemeClr val="tx1"/>
                </a:solidFill>
              </a:rPr>
              <a:t>ampvis2 </a:t>
            </a:r>
            <a:r>
              <a:rPr lang="da" dirty="0">
                <a:solidFill>
                  <a:schemeClr val="tx1"/>
                </a:solidFill>
              </a:rPr>
              <a:t>in Rstudio</a:t>
            </a:r>
            <a:endParaRPr i="1" dirty="0">
              <a:solidFill>
                <a:schemeClr val="tx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Download data from github 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Load data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Explore data! 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66" name="Google Shape;66;p14">
            <a:extLst>
              <a:ext uri="{FF2B5EF4-FFF2-40B4-BE49-F238E27FC236}">
                <a16:creationId xmlns:a16="http://schemas.microsoft.com/office/drawing/2014/main" id="{13E2D253-CE0D-B697-2F19-E81137A3760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A3AC430-1215-D46C-1AD4-9360A25C8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29" y="437831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241858"/>
                </a:solidFill>
              </a:rPr>
              <a:t>Structure of the hands-on</a:t>
            </a:r>
            <a:endParaRPr lang="en-US" b="1" dirty="0">
              <a:solidFill>
                <a:srgbClr val="241858"/>
              </a:solidFill>
            </a:endParaRPr>
          </a:p>
        </p:txBody>
      </p:sp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18FE359F-BAA7-EAF9-44E1-971A1EB2E0E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49961" y="47090"/>
            <a:ext cx="2637504" cy="92725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0387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Install R and Rstudio </a:t>
            </a:r>
            <a:endParaRPr sz="2500" b="1" dirty="0">
              <a:solidFill>
                <a:srgbClr val="241858"/>
              </a:solidFill>
            </a:endParaRPr>
          </a:p>
        </p:txBody>
      </p:sp>
      <p:sp>
        <p:nvSpPr>
          <p:cNvPr id="72" name="Google Shape;72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>
                <a:solidFill>
                  <a:schemeClr val="tx1"/>
                </a:solidFill>
              </a:rPr>
              <a:t>Download R: </a:t>
            </a:r>
            <a:r>
              <a:rPr lang="da" u="sng" dirty="0">
                <a:solidFill>
                  <a:schemeClr val="hlink"/>
                </a:solidFill>
                <a:hlinkClick r:id="rId3"/>
              </a:rPr>
              <a:t>https://mirrors.dotsrc.org/cran/</a:t>
            </a:r>
            <a:r>
              <a:rPr lang="da" dirty="0"/>
              <a:t>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solidFill>
                  <a:schemeClr val="tx1"/>
                </a:solidFill>
              </a:rPr>
              <a:t>Download Rstudio: </a:t>
            </a:r>
            <a:r>
              <a:rPr lang="da" u="sng" dirty="0">
                <a:solidFill>
                  <a:schemeClr val="hlink"/>
                </a:solidFill>
                <a:hlinkClick r:id="rId4"/>
              </a:rPr>
              <a:t>https://posit.co/download/rstudio-desktop/#download</a:t>
            </a:r>
            <a:r>
              <a:rPr lang="da" dirty="0"/>
              <a:t>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74" name="Google Shape;74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C044AF-4F76-B7E4-95FE-0AC0690937C6}"/>
              </a:ext>
            </a:extLst>
          </p:cNvPr>
          <p:cNvSpPr txBox="1"/>
          <p:nvPr/>
        </p:nvSpPr>
        <p:spPr>
          <a:xfrm>
            <a:off x="311700" y="3729415"/>
            <a:ext cx="8237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See guide: </a:t>
            </a:r>
            <a:r>
              <a:rPr lang="en-US" u="sng" dirty="0">
                <a:solidFill>
                  <a:schemeClr val="accent5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https://www.geeksforgeeks.org/how-to-install-r-studio-on-windows-and-linux/</a:t>
            </a:r>
            <a:r>
              <a:rPr lang="en-US" dirty="0"/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9A48DA73-736F-3586-69C1-A7EFC873C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1C1AD9E6-DE37-D4AD-202A-9632F254D1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Install ampvis2 in Rstudio</a:t>
            </a:r>
            <a:endParaRPr sz="2500" b="1" dirty="0">
              <a:solidFill>
                <a:srgbClr val="241858"/>
              </a:solidFill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8F508AB0-8E9C-DECF-B644-DF21FC8DB3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>
                <a:solidFill>
                  <a:schemeClr val="tx1"/>
                </a:solidFill>
              </a:rPr>
              <a:t>Go to documentation: </a:t>
            </a:r>
            <a:r>
              <a:rPr lang="en-US" dirty="0">
                <a:hlinkClick r:id="rId3"/>
              </a:rPr>
              <a:t>https://github.com/KasperSkytte/ampvis2</a:t>
            </a:r>
            <a:r>
              <a:rPr lang="en-US" dirty="0"/>
              <a:t>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AD0F94DA-693D-8577-3610-43369FE9CB5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B320CC0-2A77-CA5F-B45F-448DAE2D44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00" y="1809828"/>
            <a:ext cx="7280223" cy="680159"/>
          </a:xfrm>
          <a:prstGeom prst="rect">
            <a:avLst/>
          </a:prstGeom>
        </p:spPr>
      </p:pic>
      <p:sp>
        <p:nvSpPr>
          <p:cNvPr id="2" name="Google Shape;71;p15">
            <a:extLst>
              <a:ext uri="{FF2B5EF4-FFF2-40B4-BE49-F238E27FC236}">
                <a16:creationId xmlns:a16="http://schemas.microsoft.com/office/drawing/2014/main" id="{6146D3EE-3D32-FE31-DFF1-0E8184319761}"/>
              </a:ext>
            </a:extLst>
          </p:cNvPr>
          <p:cNvSpPr txBox="1">
            <a:spLocks/>
          </p:cNvSpPr>
          <p:nvPr/>
        </p:nvSpPr>
        <p:spPr>
          <a:xfrm>
            <a:off x="334318" y="292056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500" b="1" dirty="0">
                <a:solidFill>
                  <a:srgbClr val="241858"/>
                </a:solidFill>
              </a:rPr>
              <a:t>Install other packages in </a:t>
            </a:r>
            <a:r>
              <a:rPr lang="en-US" sz="2500" b="1" dirty="0" err="1">
                <a:solidFill>
                  <a:srgbClr val="241858"/>
                </a:solidFill>
              </a:rPr>
              <a:t>Rstudio</a:t>
            </a:r>
            <a:endParaRPr lang="en-US" sz="2500" b="1" dirty="0">
              <a:solidFill>
                <a:srgbClr val="241858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C3F1D7-CF4B-CA33-09EE-F0D9699608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447" y="3828143"/>
            <a:ext cx="5561228" cy="5358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0183B-91A1-920E-0334-A0B69D158A29}"/>
              </a:ext>
            </a:extLst>
          </p:cNvPr>
          <p:cNvSpPr txBox="1"/>
          <p:nvPr/>
        </p:nvSpPr>
        <p:spPr>
          <a:xfrm>
            <a:off x="373192" y="3469469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7"/>
              </a:rPr>
              <a:t>https://tidyverse.tidyverse.org/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55523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9497EE05-02EA-CF75-C476-1A0F35B4E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543080CB-CCE7-8C1A-884D-FFDD36E19A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Find and download data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EAB732FF-04DF-1A0D-4E28-FB7C0232526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96E4AF7-60C7-DAD3-AF90-91B6CEF03066}"/>
              </a:ext>
            </a:extLst>
          </p:cNvPr>
          <p:cNvSpPr txBox="1"/>
          <p:nvPr/>
        </p:nvSpPr>
        <p:spPr>
          <a:xfrm>
            <a:off x="273028" y="1041617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4"/>
              </a:rPr>
              <a:t>https://github.com/mpeces/MiDAS_course_2025</a:t>
            </a:r>
            <a:r>
              <a:rPr lang="en-US" sz="1600" dirty="0"/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E1C9763-3409-8409-47C0-4CDC34F462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7515" y="1380171"/>
            <a:ext cx="5497200" cy="3488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041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CE673415-388B-129E-F5EF-1012863DF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7D077C3C-0109-F455-E315-5C84601CB7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Find and download data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D5275764-8D03-5B62-A077-3F34CA4DFA5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7AD4191-A3C0-5B96-D81C-FA64095AA438}"/>
              </a:ext>
            </a:extLst>
          </p:cNvPr>
          <p:cNvSpPr txBox="1"/>
          <p:nvPr/>
        </p:nvSpPr>
        <p:spPr>
          <a:xfrm>
            <a:off x="273028" y="1041617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4"/>
              </a:rPr>
              <a:t>https://github.com/mpeces/MiDAS_course_2025</a:t>
            </a:r>
            <a:r>
              <a:rPr lang="en-US" sz="1600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FC0674-4AEF-21A3-6382-77337372A6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6964" y="1481739"/>
            <a:ext cx="5149572" cy="3287358"/>
          </a:xfrm>
          <a:prstGeom prst="rect">
            <a:avLst/>
          </a:prstGeom>
        </p:spPr>
      </p:pic>
      <p:cxnSp>
        <p:nvCxnSpPr>
          <p:cNvPr id="5" name="Google Shape;103;p18">
            <a:extLst>
              <a:ext uri="{FF2B5EF4-FFF2-40B4-BE49-F238E27FC236}">
                <a16:creationId xmlns:a16="http://schemas.microsoft.com/office/drawing/2014/main" id="{8519B502-6C89-2A67-2995-FECEF3E968BD}"/>
              </a:ext>
            </a:extLst>
          </p:cNvPr>
          <p:cNvCxnSpPr/>
          <p:nvPr/>
        </p:nvCxnSpPr>
        <p:spPr>
          <a:xfrm rot="10800000" flipH="1">
            <a:off x="5521750" y="3735938"/>
            <a:ext cx="414600" cy="485100"/>
          </a:xfrm>
          <a:prstGeom prst="straightConnector1">
            <a:avLst/>
          </a:prstGeom>
          <a:noFill/>
          <a:ln w="38100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" name="Google Shape;104;p18">
            <a:extLst>
              <a:ext uri="{FF2B5EF4-FFF2-40B4-BE49-F238E27FC236}">
                <a16:creationId xmlns:a16="http://schemas.microsoft.com/office/drawing/2014/main" id="{EC5E27EE-EFB4-69F6-32B4-E832A4D98B6D}"/>
              </a:ext>
            </a:extLst>
          </p:cNvPr>
          <p:cNvSpPr/>
          <p:nvPr/>
        </p:nvSpPr>
        <p:spPr>
          <a:xfrm>
            <a:off x="7416939" y="1899292"/>
            <a:ext cx="780350" cy="237300"/>
          </a:xfrm>
          <a:prstGeom prst="rect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1241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0AF0D0F8-9E76-7290-6B4E-CAD883F77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267C407E-EB45-7752-4A9F-0C02E71116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Find and download data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AB94D9E3-D552-75F0-F9AC-3B2423C5E5B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5680D8-ABFB-9405-6942-5102860D7386}"/>
              </a:ext>
            </a:extLst>
          </p:cNvPr>
          <p:cNvSpPr txBox="1"/>
          <p:nvPr/>
        </p:nvSpPr>
        <p:spPr>
          <a:xfrm>
            <a:off x="273028" y="1041617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4"/>
              </a:rPr>
              <a:t>https://github.com/mpeces/MiDAS_course_2025</a:t>
            </a:r>
            <a:r>
              <a:rPr lang="en-US" sz="16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A8F8D1-9687-4010-22DA-8526BEA02E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353" y="1444037"/>
            <a:ext cx="7331355" cy="3264137"/>
          </a:xfrm>
          <a:prstGeom prst="rect">
            <a:avLst/>
          </a:prstGeom>
        </p:spPr>
      </p:pic>
      <p:cxnSp>
        <p:nvCxnSpPr>
          <p:cNvPr id="7" name="Google Shape;125;p20">
            <a:extLst>
              <a:ext uri="{FF2B5EF4-FFF2-40B4-BE49-F238E27FC236}">
                <a16:creationId xmlns:a16="http://schemas.microsoft.com/office/drawing/2014/main" id="{FCC75DA6-B6C3-B19D-D26A-4AB4FAA74584}"/>
              </a:ext>
            </a:extLst>
          </p:cNvPr>
          <p:cNvCxnSpPr/>
          <p:nvPr/>
        </p:nvCxnSpPr>
        <p:spPr>
          <a:xfrm flipH="1">
            <a:off x="1491865" y="2975428"/>
            <a:ext cx="813600" cy="2256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" name="Google Shape;126;p20">
            <a:extLst>
              <a:ext uri="{FF2B5EF4-FFF2-40B4-BE49-F238E27FC236}">
                <a16:creationId xmlns:a16="http://schemas.microsoft.com/office/drawing/2014/main" id="{4B909745-CCCE-8EBC-E9AE-B18E710FFAF7}"/>
              </a:ext>
            </a:extLst>
          </p:cNvPr>
          <p:cNvSpPr txBox="1"/>
          <p:nvPr/>
        </p:nvSpPr>
        <p:spPr>
          <a:xfrm>
            <a:off x="2505547" y="2706661"/>
            <a:ext cx="13281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Raw ASVs</a:t>
            </a:r>
            <a:endParaRPr sz="1600" dirty="0">
              <a:solidFill>
                <a:schemeClr val="dk2"/>
              </a:solidFill>
            </a:endParaRPr>
          </a:p>
        </p:txBody>
      </p:sp>
      <p:cxnSp>
        <p:nvCxnSpPr>
          <p:cNvPr id="10" name="Google Shape;127;p20">
            <a:extLst>
              <a:ext uri="{FF2B5EF4-FFF2-40B4-BE49-F238E27FC236}">
                <a16:creationId xmlns:a16="http://schemas.microsoft.com/office/drawing/2014/main" id="{B1F6AC96-EA40-C66F-8667-34F7D048BD79}"/>
              </a:ext>
            </a:extLst>
          </p:cNvPr>
          <p:cNvCxnSpPr/>
          <p:nvPr/>
        </p:nvCxnSpPr>
        <p:spPr>
          <a:xfrm flipH="1">
            <a:off x="2122657" y="3401425"/>
            <a:ext cx="714300" cy="795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" name="Google Shape;128;p20">
            <a:extLst>
              <a:ext uri="{FF2B5EF4-FFF2-40B4-BE49-F238E27FC236}">
                <a16:creationId xmlns:a16="http://schemas.microsoft.com/office/drawing/2014/main" id="{5E6F7BE2-A233-8B4D-D918-856DE463C484}"/>
              </a:ext>
            </a:extLst>
          </p:cNvPr>
          <p:cNvSpPr txBox="1"/>
          <p:nvPr/>
        </p:nvSpPr>
        <p:spPr>
          <a:xfrm>
            <a:off x="3058450" y="3170742"/>
            <a:ext cx="25377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MiDAS 5.3 taxonomy </a:t>
            </a:r>
            <a:endParaRPr sz="1600" dirty="0">
              <a:solidFill>
                <a:schemeClr val="dk2"/>
              </a:solidFill>
            </a:endParaRPr>
          </a:p>
        </p:txBody>
      </p:sp>
      <p:cxnSp>
        <p:nvCxnSpPr>
          <p:cNvPr id="12" name="Google Shape;129;p20">
            <a:extLst>
              <a:ext uri="{FF2B5EF4-FFF2-40B4-BE49-F238E27FC236}">
                <a16:creationId xmlns:a16="http://schemas.microsoft.com/office/drawing/2014/main" id="{16801761-2138-3E26-8832-BD65B0A2D344}"/>
              </a:ext>
            </a:extLst>
          </p:cNvPr>
          <p:cNvCxnSpPr/>
          <p:nvPr/>
        </p:nvCxnSpPr>
        <p:spPr>
          <a:xfrm rot="10800000">
            <a:off x="1813000" y="4107320"/>
            <a:ext cx="1190700" cy="354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" name="Google Shape;130;p20">
            <a:extLst>
              <a:ext uri="{FF2B5EF4-FFF2-40B4-BE49-F238E27FC236}">
                <a16:creationId xmlns:a16="http://schemas.microsoft.com/office/drawing/2014/main" id="{5B4B9B09-C662-F9C3-6CAA-E8496828791E}"/>
              </a:ext>
            </a:extLst>
          </p:cNvPr>
          <p:cNvSpPr txBox="1"/>
          <p:nvPr/>
        </p:nvSpPr>
        <p:spPr>
          <a:xfrm>
            <a:off x="3303150" y="3953856"/>
            <a:ext cx="25377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ASV table</a:t>
            </a:r>
            <a:endParaRPr sz="1600" dirty="0">
              <a:solidFill>
                <a:schemeClr val="dk2"/>
              </a:solidFill>
            </a:endParaRPr>
          </a:p>
        </p:txBody>
      </p:sp>
      <p:cxnSp>
        <p:nvCxnSpPr>
          <p:cNvPr id="14" name="Google Shape;131;p20">
            <a:extLst>
              <a:ext uri="{FF2B5EF4-FFF2-40B4-BE49-F238E27FC236}">
                <a16:creationId xmlns:a16="http://schemas.microsoft.com/office/drawing/2014/main" id="{DD652120-3AE7-B3F9-5888-3A0C982E8019}"/>
              </a:ext>
            </a:extLst>
          </p:cNvPr>
          <p:cNvCxnSpPr/>
          <p:nvPr/>
        </p:nvCxnSpPr>
        <p:spPr>
          <a:xfrm rot="10800000">
            <a:off x="2241458" y="4471554"/>
            <a:ext cx="1155300" cy="1410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" name="Google Shape;132;p20">
            <a:extLst>
              <a:ext uri="{FF2B5EF4-FFF2-40B4-BE49-F238E27FC236}">
                <a16:creationId xmlns:a16="http://schemas.microsoft.com/office/drawing/2014/main" id="{1E5E8C8C-2420-66AA-8088-C81C27AC9C8F}"/>
              </a:ext>
            </a:extLst>
          </p:cNvPr>
          <p:cNvSpPr txBox="1"/>
          <p:nvPr/>
        </p:nvSpPr>
        <p:spPr>
          <a:xfrm>
            <a:off x="3464975" y="4459318"/>
            <a:ext cx="25377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Sample metadata</a:t>
            </a:r>
            <a:endParaRPr sz="1600" dirty="0">
              <a:solidFill>
                <a:schemeClr val="dk2"/>
              </a:solidFill>
            </a:endParaRPr>
          </a:p>
        </p:txBody>
      </p:sp>
      <p:cxnSp>
        <p:nvCxnSpPr>
          <p:cNvPr id="16" name="Google Shape;133;p20">
            <a:extLst>
              <a:ext uri="{FF2B5EF4-FFF2-40B4-BE49-F238E27FC236}">
                <a16:creationId xmlns:a16="http://schemas.microsoft.com/office/drawing/2014/main" id="{00480BA9-BEDB-A2A0-6E82-B4231DEDBB94}"/>
              </a:ext>
            </a:extLst>
          </p:cNvPr>
          <p:cNvCxnSpPr/>
          <p:nvPr/>
        </p:nvCxnSpPr>
        <p:spPr>
          <a:xfrm flipH="1">
            <a:off x="2559028" y="3803964"/>
            <a:ext cx="732000" cy="90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" name="Google Shape;134;p20">
            <a:extLst>
              <a:ext uri="{FF2B5EF4-FFF2-40B4-BE49-F238E27FC236}">
                <a16:creationId xmlns:a16="http://schemas.microsoft.com/office/drawing/2014/main" id="{3C8B2109-C167-4C7C-BD6D-7B82F6DB4943}"/>
              </a:ext>
            </a:extLst>
          </p:cNvPr>
          <p:cNvSpPr txBox="1"/>
          <p:nvPr/>
        </p:nvSpPr>
        <p:spPr>
          <a:xfrm>
            <a:off x="3528050" y="3562299"/>
            <a:ext cx="19575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SILVA taxonomy</a:t>
            </a:r>
            <a:endParaRPr sz="1600" dirty="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57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b="1" dirty="0">
                <a:solidFill>
                  <a:srgbClr val="241858"/>
                </a:solidFill>
              </a:rPr>
              <a:t>Install ampvis2 </a:t>
            </a:r>
            <a:r>
              <a:rPr lang="da" sz="2058" dirty="0">
                <a:solidFill>
                  <a:schemeClr val="dk2"/>
                </a:solidFill>
              </a:rPr>
              <a:t>(</a:t>
            </a:r>
            <a:r>
              <a:rPr lang="da" sz="1566" u="sng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https://kasperskytte.github.io/ampvis2/articles/ampvis2.html</a:t>
            </a:r>
            <a:r>
              <a:rPr lang="da" sz="2050" dirty="0">
                <a:solidFill>
                  <a:schemeClr val="dk2"/>
                </a:solidFill>
              </a:rPr>
              <a:t>)</a:t>
            </a:r>
            <a:r>
              <a:rPr lang="da" sz="3466" dirty="0"/>
              <a:t> </a:t>
            </a:r>
            <a:endParaRPr sz="3466" dirty="0"/>
          </a:p>
        </p:txBody>
      </p:sp>
      <p:sp>
        <p:nvSpPr>
          <p:cNvPr id="162" name="Google Shape;162;p22"/>
          <p:cNvSpPr txBox="1">
            <a:spLocks noGrp="1"/>
          </p:cNvSpPr>
          <p:nvPr>
            <p:ph type="body" idx="1"/>
          </p:nvPr>
        </p:nvSpPr>
        <p:spPr>
          <a:xfrm>
            <a:off x="311700" y="1110550"/>
            <a:ext cx="8520600" cy="37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/>
              <a:t>In the R terminal:</a:t>
            </a:r>
            <a:endParaRPr sz="1600"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install.packages("remotes")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remotes::install_github("kasperskytte/ampvis2")</a:t>
            </a:r>
            <a:endParaRPr sz="951"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/>
              <a:t>Other needed packages: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install.packages(“tidyverse")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/>
              <a:t>Load packages (do for all packages):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library("ampvis2")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library(" tidyverse")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63" name="Google Shape;163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11</a:t>
            </a:fld>
            <a:endParaRPr/>
          </a:p>
        </p:txBody>
      </p:sp>
      <p:pic>
        <p:nvPicPr>
          <p:cNvPr id="164" name="Google Shape;164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Load data into ampvis object</a:t>
            </a:r>
            <a:endParaRPr sz="2500" b="1" dirty="0">
              <a:solidFill>
                <a:srgbClr val="241858"/>
              </a:solidFill>
            </a:endParaRPr>
          </a:p>
        </p:txBody>
      </p:sp>
      <p:sp>
        <p:nvSpPr>
          <p:cNvPr id="170" name="Google Shape;170;p23"/>
          <p:cNvSpPr txBox="1">
            <a:spLocks noGrp="1"/>
          </p:cNvSpPr>
          <p:nvPr>
            <p:ph type="body" idx="1"/>
          </p:nvPr>
        </p:nvSpPr>
        <p:spPr>
          <a:xfrm>
            <a:off x="311699" y="1000075"/>
            <a:ext cx="5690977" cy="388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200" dirty="0"/>
              <a:t>Metadata:</a:t>
            </a:r>
            <a:endParaRPr sz="1200" dirty="0"/>
          </a:p>
          <a:p>
            <a:pPr marL="0" lvl="0" indent="0">
              <a:buNone/>
            </a:pP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'data/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metadata_midascourse.txt</a:t>
            </a: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</a:t>
            </a: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200" dirty="0"/>
              <a:t>ASV table:</a:t>
            </a:r>
            <a:endParaRPr sz="1200" dirty="0"/>
          </a:p>
          <a:p>
            <a:pPr marL="0" lvl="0" indent="0">
              <a:buNone/>
            </a:pP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'data/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ASVtable.tsv</a:t>
            </a: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 </a:t>
            </a: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200" dirty="0"/>
              <a:t>Taxonomy:</a:t>
            </a:r>
            <a:endParaRPr sz="1200" dirty="0"/>
          </a:p>
          <a:p>
            <a:pPr marL="0" lvl="0" indent="0">
              <a:buNone/>
            </a:pP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'data/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ASVs.R1.midas53.sintax</a:t>
            </a: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</a:t>
            </a: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200" dirty="0"/>
              <a:t>ASVs (fasta sequences):</a:t>
            </a: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'data/ASVs.R1.fa'</a:t>
            </a: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200" dirty="0"/>
              <a:t>Load into ampvis:</a:t>
            </a: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d_midas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 &lt;- 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amp_load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otutable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 = "data/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ASVtable.tsv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",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              taxonomy = "data/ASVs.R1.midas53.sintax",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              metadata = "data/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metadata_midascourse.txt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",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              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fasta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 = "data/ASVs.R1.fa")</a:t>
            </a:r>
            <a:endParaRPr sz="1600" dirty="0"/>
          </a:p>
        </p:txBody>
      </p:sp>
      <p:pic>
        <p:nvPicPr>
          <p:cNvPr id="171" name="Google Shape;171;p23"/>
          <p:cNvPicPr preferRelativeResize="0"/>
          <p:nvPr/>
        </p:nvPicPr>
        <p:blipFill rotWithShape="1">
          <a:blip r:embed="rId3">
            <a:alphaModFix/>
          </a:blip>
          <a:srcRect b="66897"/>
          <a:stretch/>
        </p:blipFill>
        <p:spPr>
          <a:xfrm>
            <a:off x="4851741" y="1225347"/>
            <a:ext cx="3980559" cy="1525214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3"/>
          <p:cNvSpPr txBox="1"/>
          <p:nvPr/>
        </p:nvSpPr>
        <p:spPr>
          <a:xfrm>
            <a:off x="7772968" y="1017725"/>
            <a:ext cx="916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000" b="1" dirty="0">
                <a:solidFill>
                  <a:schemeClr val="dk2"/>
                </a:solidFill>
              </a:rPr>
              <a:t>(optional)</a:t>
            </a:r>
            <a:endParaRPr sz="1000" b="1" dirty="0">
              <a:solidFill>
                <a:schemeClr val="dk2"/>
              </a:solidFill>
            </a:endParaRPr>
          </a:p>
        </p:txBody>
      </p:sp>
      <p:sp>
        <p:nvSpPr>
          <p:cNvPr id="173" name="Google Shape;173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12</a:t>
            </a:fld>
            <a:endParaRPr/>
          </a:p>
        </p:txBody>
      </p:sp>
      <p:pic>
        <p:nvPicPr>
          <p:cNvPr id="174" name="Google Shape;174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4"/>
          <p:cNvSpPr txBox="1">
            <a:spLocks noGrp="1"/>
          </p:cNvSpPr>
          <p:nvPr>
            <p:ph type="title"/>
          </p:nvPr>
        </p:nvSpPr>
        <p:spPr>
          <a:xfrm>
            <a:off x="311700" y="574075"/>
            <a:ext cx="4260300" cy="121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Typical amplicon analysis workflow in ampvis2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180" name="Google Shape;18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45097" y="296200"/>
            <a:ext cx="3931853" cy="4551124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13</a:t>
            </a:fld>
            <a:endParaRPr/>
          </a:p>
        </p:txBody>
      </p:sp>
      <p:pic>
        <p:nvPicPr>
          <p:cNvPr id="182" name="Google Shape;182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/>
              <a:t>Break and R support</a:t>
            </a:r>
            <a:endParaRPr/>
          </a:p>
        </p:txBody>
      </p:sp>
      <p:pic>
        <p:nvPicPr>
          <p:cNvPr id="197" name="Google Shape;197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465</Words>
  <Application>Microsoft Macintosh PowerPoint</Application>
  <PresentationFormat>On-screen Show (16:9)</PresentationFormat>
  <Paragraphs>91</Paragraphs>
  <Slides>14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Courier New</vt:lpstr>
      <vt:lpstr>Simple Light</vt:lpstr>
      <vt:lpstr>PowerPoint Presentation</vt:lpstr>
      <vt:lpstr>Aim of the hands-on</vt:lpstr>
      <vt:lpstr>Aim of the hands-on</vt:lpstr>
      <vt:lpstr>Data for the hands-on</vt:lpstr>
      <vt:lpstr>Structure of the hands-on</vt:lpstr>
      <vt:lpstr>Install R and Rstudio </vt:lpstr>
      <vt:lpstr>Install ampvis2 in Rstudio</vt:lpstr>
      <vt:lpstr>Find and download data</vt:lpstr>
      <vt:lpstr>Find and download data</vt:lpstr>
      <vt:lpstr>Find and download data</vt:lpstr>
      <vt:lpstr>Install ampvis2 (https://kasperskytte.github.io/ampvis2/articles/ampvis2.html) </vt:lpstr>
      <vt:lpstr>Load data into ampvis object</vt:lpstr>
      <vt:lpstr>Typical amplicon analysis workflow in ampvis2</vt:lpstr>
      <vt:lpstr>Break and R support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Sofie Zacho Vestergaard</cp:lastModifiedBy>
  <cp:revision>9</cp:revision>
  <dcterms:modified xsi:type="dcterms:W3CDTF">2025-05-27T11:02:34Z</dcterms:modified>
</cp:coreProperties>
</file>